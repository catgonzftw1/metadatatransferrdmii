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8" r:id="rId4"/>
  </p:sldMasterIdLst>
  <p:notesMasterIdLst>
    <p:notesMasterId r:id="rId15"/>
  </p:notesMasterIdLst>
  <p:handoutMasterIdLst>
    <p:handoutMasterId r:id="rId16"/>
  </p:handoutMasterIdLst>
  <p:sldIdLst>
    <p:sldId id="257" r:id="rId5"/>
    <p:sldId id="1882" r:id="rId6"/>
    <p:sldId id="1879" r:id="rId7"/>
    <p:sldId id="1883" r:id="rId8"/>
    <p:sldId id="1885" r:id="rId9"/>
    <p:sldId id="1881" r:id="rId10"/>
    <p:sldId id="276" r:id="rId11"/>
    <p:sldId id="1880" r:id="rId12"/>
    <p:sldId id="1884" r:id="rId13"/>
    <p:sldId id="268" r:id="rId14"/>
  </p:sldIdLst>
  <p:sldSz cx="12192000" cy="6858000"/>
  <p:notesSz cx="6797675" cy="9926638"/>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9F"/>
    <a:srgbClr val="663300"/>
    <a:srgbClr val="F6A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8"/>
    <p:restoredTop sz="95033" autoAdjust="0"/>
  </p:normalViewPr>
  <p:slideViewPr>
    <p:cSldViewPr snapToGrid="0">
      <p:cViewPr varScale="1">
        <p:scale>
          <a:sx n="75" d="100"/>
          <a:sy n="75" d="100"/>
        </p:scale>
        <p:origin x="912" y="53"/>
      </p:cViewPr>
      <p:guideLst/>
    </p:cSldViewPr>
  </p:slideViewPr>
  <p:outlineViewPr>
    <p:cViewPr>
      <p:scale>
        <a:sx n="33" d="100"/>
        <a:sy n="33" d="100"/>
      </p:scale>
      <p:origin x="0" y="0"/>
    </p:cViewPr>
  </p:outlineViewPr>
  <p:notesTextViewPr>
    <p:cViewPr>
      <p:scale>
        <a:sx n="176" d="100"/>
        <a:sy n="176"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2945862" cy="497333"/>
          </a:xfrm>
          <a:prstGeom prst="rect">
            <a:avLst/>
          </a:prstGeom>
        </p:spPr>
        <p:txBody>
          <a:bodyPr vert="horz" lIns="88221" tIns="44111" rIns="88221" bIns="44111" rtlCol="0"/>
          <a:lstStyle>
            <a:lvl1pPr algn="l" eaLnBrk="1" fontAlgn="auto" hangingPunct="1">
              <a:spcBef>
                <a:spcPts val="0"/>
              </a:spcBef>
              <a:spcAft>
                <a:spcPts val="0"/>
              </a:spcAft>
              <a:defRPr sz="1200">
                <a:latin typeface="+mn-lt"/>
                <a:ea typeface="+mn-ea"/>
                <a:cs typeface="+mn-cs"/>
              </a:defRPr>
            </a:lvl1pPr>
          </a:lstStyle>
          <a:p>
            <a:pPr>
              <a:defRPr/>
            </a:pPr>
            <a:endParaRPr lang="de-DE"/>
          </a:p>
        </p:txBody>
      </p:sp>
      <p:sp>
        <p:nvSpPr>
          <p:cNvPr id="3" name="Datumsplatzhalter 2"/>
          <p:cNvSpPr>
            <a:spLocks noGrp="1"/>
          </p:cNvSpPr>
          <p:nvPr>
            <p:ph type="dt" sz="quarter" idx="1"/>
          </p:nvPr>
        </p:nvSpPr>
        <p:spPr>
          <a:xfrm>
            <a:off x="3850294" y="1"/>
            <a:ext cx="2945862" cy="497333"/>
          </a:xfrm>
          <a:prstGeom prst="rect">
            <a:avLst/>
          </a:prstGeom>
        </p:spPr>
        <p:txBody>
          <a:bodyPr vert="horz" wrap="square" lIns="88221" tIns="44111" rIns="88221" bIns="44111" numCol="1" anchor="t" anchorCtr="0" compatLnSpc="1">
            <a:prstTxWarp prst="textNoShape">
              <a:avLst/>
            </a:prstTxWarp>
          </a:bodyPr>
          <a:lstStyle>
            <a:lvl1pPr algn="r" eaLnBrk="1" hangingPunct="1">
              <a:defRPr sz="1000" smtClean="0"/>
            </a:lvl1pPr>
          </a:lstStyle>
          <a:p>
            <a:pPr>
              <a:defRPr/>
            </a:pPr>
            <a:fld id="{F5D72E11-D20E-4636-94F9-FACCB579DF87}" type="datetimeFigureOut">
              <a:rPr lang="de-DE" altLang="de-DE"/>
              <a:pPr>
                <a:defRPr/>
              </a:pPr>
              <a:t>09.06.2026</a:t>
            </a:fld>
            <a:endParaRPr lang="de-DE" altLang="de-DE"/>
          </a:p>
        </p:txBody>
      </p:sp>
      <p:sp>
        <p:nvSpPr>
          <p:cNvPr id="4" name="Fußzeilenplatzhalter 3"/>
          <p:cNvSpPr>
            <a:spLocks noGrp="1"/>
          </p:cNvSpPr>
          <p:nvPr>
            <p:ph type="ftr" sz="quarter" idx="2"/>
          </p:nvPr>
        </p:nvSpPr>
        <p:spPr>
          <a:xfrm>
            <a:off x="0" y="9429305"/>
            <a:ext cx="2945862" cy="497333"/>
          </a:xfrm>
          <a:prstGeom prst="rect">
            <a:avLst/>
          </a:prstGeom>
        </p:spPr>
        <p:txBody>
          <a:bodyPr vert="horz" lIns="88221" tIns="44111" rIns="88221" bIns="44111" rtlCol="0" anchor="b"/>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5" name="Foliennummernplatzhalter 4"/>
          <p:cNvSpPr>
            <a:spLocks noGrp="1"/>
          </p:cNvSpPr>
          <p:nvPr>
            <p:ph type="sldNum" sz="quarter" idx="3"/>
          </p:nvPr>
        </p:nvSpPr>
        <p:spPr>
          <a:xfrm>
            <a:off x="3850294" y="9429305"/>
            <a:ext cx="2945862" cy="497333"/>
          </a:xfrm>
          <a:prstGeom prst="rect">
            <a:avLst/>
          </a:prstGeom>
        </p:spPr>
        <p:txBody>
          <a:bodyPr vert="horz" wrap="square" lIns="88221" tIns="44111" rIns="88221" bIns="44111" numCol="1" anchor="b" anchorCtr="0" compatLnSpc="1">
            <a:prstTxWarp prst="textNoShape">
              <a:avLst/>
            </a:prstTxWarp>
          </a:bodyPr>
          <a:lstStyle>
            <a:lvl1pPr algn="r" eaLnBrk="1" hangingPunct="1">
              <a:defRPr sz="1000"/>
            </a:lvl1pPr>
          </a:lstStyle>
          <a:p>
            <a:fld id="{DAEA001A-7C1E-4998-9E1E-16B15D35FFAC}" type="slidenum">
              <a:rPr lang="de-DE" altLang="de-DE"/>
              <a:pPr/>
              <a:t>‹#›</a:t>
            </a:fld>
            <a:endParaRPr lang="de-DE" altLang="de-DE"/>
          </a:p>
        </p:txBody>
      </p:sp>
    </p:spTree>
    <p:extLst>
      <p:ext uri="{BB962C8B-B14F-4D97-AF65-F5344CB8AC3E}">
        <p14:creationId xmlns:p14="http://schemas.microsoft.com/office/powerpoint/2010/main" val="41631398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2945862" cy="497333"/>
          </a:xfrm>
          <a:prstGeom prst="rect">
            <a:avLst/>
          </a:prstGeom>
        </p:spPr>
        <p:txBody>
          <a:bodyPr vert="horz" lIns="88221" tIns="44111" rIns="88221" bIns="44111" rtlCol="0"/>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3" name="Datumsplatzhalter 2"/>
          <p:cNvSpPr>
            <a:spLocks noGrp="1"/>
          </p:cNvSpPr>
          <p:nvPr>
            <p:ph type="dt" idx="1"/>
          </p:nvPr>
        </p:nvSpPr>
        <p:spPr>
          <a:xfrm>
            <a:off x="3850294" y="1"/>
            <a:ext cx="2945862" cy="497333"/>
          </a:xfrm>
          <a:prstGeom prst="rect">
            <a:avLst/>
          </a:prstGeom>
        </p:spPr>
        <p:txBody>
          <a:bodyPr vert="horz" wrap="square" lIns="88221" tIns="44111" rIns="88221" bIns="44111" numCol="1" anchor="t" anchorCtr="0" compatLnSpc="1">
            <a:prstTxWarp prst="textNoShape">
              <a:avLst/>
            </a:prstTxWarp>
          </a:bodyPr>
          <a:lstStyle>
            <a:lvl1pPr algn="r" eaLnBrk="1" hangingPunct="1">
              <a:defRPr sz="1000" smtClean="0"/>
            </a:lvl1pPr>
          </a:lstStyle>
          <a:p>
            <a:pPr>
              <a:defRPr/>
            </a:pPr>
            <a:fld id="{CA4CA7FB-B66B-4691-A092-2D38FBF8D6DE}" type="datetimeFigureOut">
              <a:rPr lang="de-DE" altLang="de-DE"/>
              <a:pPr>
                <a:defRPr/>
              </a:pPr>
              <a:t>09.06.2026</a:t>
            </a:fld>
            <a:endParaRPr lang="de-DE" altLang="de-DE"/>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88221" tIns="44111" rIns="88221" bIns="44111" rtlCol="0" anchor="ctr"/>
          <a:lstStyle/>
          <a:p>
            <a:pPr lvl="0"/>
            <a:endParaRPr lang="de-DE" noProof="0"/>
          </a:p>
        </p:txBody>
      </p:sp>
      <p:sp>
        <p:nvSpPr>
          <p:cNvPr id="5" name="Notizenplatzhalter 4"/>
          <p:cNvSpPr>
            <a:spLocks noGrp="1"/>
          </p:cNvSpPr>
          <p:nvPr>
            <p:ph type="body" sz="quarter" idx="3"/>
          </p:nvPr>
        </p:nvSpPr>
        <p:spPr>
          <a:xfrm>
            <a:off x="679464" y="4777782"/>
            <a:ext cx="5438748" cy="3907834"/>
          </a:xfrm>
          <a:prstGeom prst="rect">
            <a:avLst/>
          </a:prstGeom>
        </p:spPr>
        <p:txBody>
          <a:bodyPr vert="horz" wrap="square" lIns="88221" tIns="44111" rIns="88221" bIns="44111" numCol="1" anchor="t" anchorCtr="0" compatLnSpc="1">
            <a:prstTxWarp prst="textNoShape">
              <a:avLst/>
            </a:prstTxWarp>
          </a:bodyPr>
          <a:lstStyle/>
          <a:p>
            <a:pPr lvl="0"/>
            <a:r>
              <a:rPr lang="de-DE" altLang="de-DE" noProof="0"/>
              <a:t>Textmasterformat bearbeiten</a:t>
            </a:r>
          </a:p>
          <a:p>
            <a:pPr lvl="1"/>
            <a:r>
              <a:rPr lang="de-DE" altLang="de-DE" noProof="0"/>
              <a:t>Zweite Ebene</a:t>
            </a:r>
          </a:p>
          <a:p>
            <a:pPr lvl="2"/>
            <a:r>
              <a:rPr lang="de-DE" altLang="de-DE" noProof="0"/>
              <a:t>Dritte Ebene</a:t>
            </a:r>
          </a:p>
          <a:p>
            <a:pPr lvl="3"/>
            <a:r>
              <a:rPr lang="de-DE" altLang="de-DE" noProof="0"/>
              <a:t>Vierte Ebene</a:t>
            </a:r>
          </a:p>
          <a:p>
            <a:pPr lvl="4"/>
            <a:r>
              <a:rPr lang="de-DE" altLang="de-DE" noProof="0"/>
              <a:t>Fünfte Ebene</a:t>
            </a:r>
          </a:p>
        </p:txBody>
      </p:sp>
      <p:sp>
        <p:nvSpPr>
          <p:cNvPr id="6" name="Fußzeilenplatzhalter 5"/>
          <p:cNvSpPr>
            <a:spLocks noGrp="1"/>
          </p:cNvSpPr>
          <p:nvPr>
            <p:ph type="ftr" sz="quarter" idx="4"/>
          </p:nvPr>
        </p:nvSpPr>
        <p:spPr>
          <a:xfrm>
            <a:off x="0" y="9429305"/>
            <a:ext cx="2945862" cy="497333"/>
          </a:xfrm>
          <a:prstGeom prst="rect">
            <a:avLst/>
          </a:prstGeom>
        </p:spPr>
        <p:txBody>
          <a:bodyPr vert="horz" lIns="88221" tIns="44111" rIns="88221" bIns="44111" rtlCol="0" anchor="b"/>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7" name="Foliennummernplatzhalter 6"/>
          <p:cNvSpPr>
            <a:spLocks noGrp="1"/>
          </p:cNvSpPr>
          <p:nvPr>
            <p:ph type="sldNum" sz="quarter" idx="5"/>
          </p:nvPr>
        </p:nvSpPr>
        <p:spPr>
          <a:xfrm>
            <a:off x="3850294" y="9429305"/>
            <a:ext cx="2945862" cy="497333"/>
          </a:xfrm>
          <a:prstGeom prst="rect">
            <a:avLst/>
          </a:prstGeom>
        </p:spPr>
        <p:txBody>
          <a:bodyPr vert="horz" wrap="square" lIns="88221" tIns="44111" rIns="88221" bIns="44111" numCol="1" anchor="b" anchorCtr="0" compatLnSpc="1">
            <a:prstTxWarp prst="textNoShape">
              <a:avLst/>
            </a:prstTxWarp>
          </a:bodyPr>
          <a:lstStyle>
            <a:lvl1pPr algn="r" eaLnBrk="1" hangingPunct="1">
              <a:defRPr sz="1000"/>
            </a:lvl1pPr>
          </a:lstStyle>
          <a:p>
            <a:fld id="{3AE7F5EA-37C9-4A50-A0AE-571D333242F7}" type="slidenum">
              <a:rPr lang="de-DE" altLang="de-DE"/>
              <a:pPr/>
              <a:t>‹#›</a:t>
            </a:fld>
            <a:endParaRPr lang="de-DE" altLang="de-DE"/>
          </a:p>
        </p:txBody>
      </p:sp>
    </p:spTree>
    <p:extLst>
      <p:ext uri="{BB962C8B-B14F-4D97-AF65-F5344CB8AC3E}">
        <p14:creationId xmlns:p14="http://schemas.microsoft.com/office/powerpoint/2010/main" val="163893184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000" kern="1200">
        <a:solidFill>
          <a:schemeClr val="tx1"/>
        </a:solidFill>
        <a:latin typeface="Arial" pitchFamily="34" charset="0"/>
        <a:ea typeface="ＭＳ Ｐゴシック" charset="0"/>
        <a:cs typeface="Arial" pitchFamily="34" charset="0"/>
      </a:defRPr>
    </a:lvl1pPr>
    <a:lvl2pPr marL="4572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2pPr>
    <a:lvl3pPr marL="9144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3pPr>
    <a:lvl4pPr marL="13716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4pPr>
    <a:lvl5pPr marL="18288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github.com/catgonzftw1/MetadataTransferRDMII"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err="1"/>
              <a:t>Thank</a:t>
            </a:r>
            <a:r>
              <a:rPr lang="de-DE" dirty="0"/>
              <a:t> </a:t>
            </a:r>
            <a:r>
              <a:rPr lang="de-DE" dirty="0" err="1"/>
              <a:t>you</a:t>
            </a:r>
            <a:r>
              <a:rPr lang="de-DE" dirty="0"/>
              <a:t> </a:t>
            </a:r>
            <a:r>
              <a:rPr lang="de-DE" dirty="0" err="1"/>
              <a:t>for</a:t>
            </a:r>
            <a:r>
              <a:rPr lang="de-DE" dirty="0"/>
              <a:t> </a:t>
            </a:r>
            <a:r>
              <a:rPr lang="de-DE" dirty="0" err="1"/>
              <a:t>joining</a:t>
            </a:r>
            <a:r>
              <a:rPr lang="de-DE" dirty="0"/>
              <a:t> </a:t>
            </a:r>
            <a:r>
              <a:rPr lang="de-DE" dirty="0" err="1"/>
              <a:t>us</a:t>
            </a:r>
            <a:r>
              <a:rPr lang="de-DE" dirty="0"/>
              <a:t> </a:t>
            </a:r>
            <a:r>
              <a:rPr lang="de-DE" dirty="0" err="1"/>
              <a:t>today</a:t>
            </a:r>
            <a:r>
              <a:rPr lang="de-DE" dirty="0"/>
              <a:t> </a:t>
            </a:r>
            <a:r>
              <a:rPr lang="de-DE" dirty="0" err="1"/>
              <a:t>for</a:t>
            </a:r>
            <a:r>
              <a:rPr lang="de-DE" dirty="0"/>
              <a:t> </a:t>
            </a:r>
            <a:r>
              <a:rPr lang="de-DE" dirty="0" err="1"/>
              <a:t>this</a:t>
            </a:r>
            <a:r>
              <a:rPr lang="de-DE" dirty="0"/>
              <a:t> </a:t>
            </a:r>
            <a:r>
              <a:rPr lang="de-DE" dirty="0" err="1"/>
              <a:t>workshop</a:t>
            </a:r>
            <a:r>
              <a:rPr lang="de-DE" dirty="0"/>
              <a:t>. </a:t>
            </a:r>
            <a:r>
              <a:rPr lang="de-DE" dirty="0" err="1"/>
              <a:t>I‘m</a:t>
            </a:r>
            <a:r>
              <a:rPr lang="de-DE" dirty="0"/>
              <a:t> Catherine </a:t>
            </a:r>
            <a:r>
              <a:rPr lang="de-DE" dirty="0" err="1"/>
              <a:t>or</a:t>
            </a:r>
            <a:r>
              <a:rPr lang="de-DE" dirty="0"/>
              <a:t> </a:t>
            </a:r>
            <a:r>
              <a:rPr lang="de-DE" dirty="0" err="1"/>
              <a:t>you</a:t>
            </a:r>
            <a:r>
              <a:rPr lang="de-DE" dirty="0"/>
              <a:t> </a:t>
            </a:r>
            <a:r>
              <a:rPr lang="de-DE" dirty="0" err="1"/>
              <a:t>can</a:t>
            </a:r>
            <a:r>
              <a:rPr lang="de-DE" dirty="0"/>
              <a:t> </a:t>
            </a:r>
            <a:r>
              <a:rPr lang="de-DE" dirty="0" err="1"/>
              <a:t>call</a:t>
            </a:r>
            <a:r>
              <a:rPr lang="de-DE" dirty="0"/>
              <a:t> </a:t>
            </a:r>
            <a:r>
              <a:rPr lang="de-DE" dirty="0" err="1"/>
              <a:t>me</a:t>
            </a:r>
            <a:r>
              <a:rPr lang="de-DE" dirty="0"/>
              <a:t> Cat. </a:t>
            </a:r>
            <a:r>
              <a:rPr lang="de-DE" dirty="0" err="1"/>
              <a:t>I‘m</a:t>
            </a:r>
            <a:r>
              <a:rPr lang="de-DE" dirty="0"/>
              <a:t> </a:t>
            </a:r>
            <a:r>
              <a:rPr lang="de-DE" dirty="0" err="1"/>
              <a:t>the</a:t>
            </a:r>
            <a:r>
              <a:rPr lang="de-DE" dirty="0"/>
              <a:t> </a:t>
            </a:r>
            <a:r>
              <a:rPr lang="de-DE" dirty="0" err="1"/>
              <a:t>data</a:t>
            </a:r>
            <a:r>
              <a:rPr lang="de-DE" dirty="0"/>
              <a:t> </a:t>
            </a:r>
            <a:r>
              <a:rPr lang="de-DE" dirty="0" err="1"/>
              <a:t>steward</a:t>
            </a:r>
            <a:r>
              <a:rPr lang="de-DE" dirty="0"/>
              <a:t> </a:t>
            </a:r>
            <a:r>
              <a:rPr lang="de-DE" dirty="0" err="1"/>
              <a:t>with</a:t>
            </a:r>
            <a:r>
              <a:rPr lang="de-DE" dirty="0"/>
              <a:t> </a:t>
            </a:r>
            <a:r>
              <a:rPr lang="de-DE" dirty="0" err="1"/>
              <a:t>the</a:t>
            </a:r>
            <a:r>
              <a:rPr lang="de-DE" dirty="0"/>
              <a:t> CRC 1382 Gut-Liver Axis and NFDI4Microbiota.</a:t>
            </a:r>
          </a:p>
        </p:txBody>
      </p:sp>
    </p:spTree>
    <p:extLst>
      <p:ext uri="{BB962C8B-B14F-4D97-AF65-F5344CB8AC3E}">
        <p14:creationId xmlns:p14="http://schemas.microsoft.com/office/powerpoint/2010/main" val="2819965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First </a:t>
            </a:r>
            <a:r>
              <a:rPr lang="de-DE" dirty="0" err="1"/>
              <a:t>I‘d</a:t>
            </a:r>
            <a:r>
              <a:rPr lang="de-DE" dirty="0"/>
              <a:t> like </a:t>
            </a:r>
            <a:r>
              <a:rPr lang="de-DE" dirty="0" err="1"/>
              <a:t>to</a:t>
            </a:r>
            <a:r>
              <a:rPr lang="de-DE" dirty="0"/>
              <a:t> review </a:t>
            </a:r>
            <a:r>
              <a:rPr lang="de-DE" dirty="0" err="1"/>
              <a:t>some</a:t>
            </a:r>
            <a:r>
              <a:rPr lang="de-DE" dirty="0"/>
              <a:t> </a:t>
            </a:r>
            <a:r>
              <a:rPr lang="de-DE" dirty="0" err="1"/>
              <a:t>guidelines</a:t>
            </a:r>
            <a:r>
              <a:rPr lang="de-DE" dirty="0"/>
              <a:t>.</a:t>
            </a:r>
            <a:endParaRPr lang="en-US" dirty="0"/>
          </a:p>
        </p:txBody>
      </p:sp>
    </p:spTree>
    <p:extLst>
      <p:ext uri="{BB962C8B-B14F-4D97-AF65-F5344CB8AC3E}">
        <p14:creationId xmlns:p14="http://schemas.microsoft.com/office/powerpoint/2010/main" val="372008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err="1"/>
              <a:t>Our</a:t>
            </a:r>
            <a:r>
              <a:rPr lang="de-DE" dirty="0"/>
              <a:t> </a:t>
            </a:r>
            <a:r>
              <a:rPr lang="de-DE" dirty="0" err="1"/>
              <a:t>objectives</a:t>
            </a:r>
            <a:r>
              <a:rPr lang="de-DE" dirty="0"/>
              <a:t> </a:t>
            </a:r>
            <a:r>
              <a:rPr lang="de-DE" dirty="0" err="1"/>
              <a:t>as</a:t>
            </a:r>
            <a:r>
              <a:rPr lang="de-DE" dirty="0"/>
              <a:t> </a:t>
            </a:r>
            <a:r>
              <a:rPr lang="de-DE" dirty="0" err="1"/>
              <a:t>stated</a:t>
            </a:r>
            <a:r>
              <a:rPr lang="de-DE" dirty="0"/>
              <a:t> in </a:t>
            </a:r>
            <a:r>
              <a:rPr lang="de-DE" dirty="0" err="1"/>
              <a:t>the</a:t>
            </a:r>
            <a:r>
              <a:rPr lang="de-DE" dirty="0"/>
              <a:t> </a:t>
            </a:r>
            <a:r>
              <a:rPr lang="de-DE" dirty="0" err="1"/>
              <a:t>workshop</a:t>
            </a:r>
            <a:r>
              <a:rPr lang="de-DE" dirty="0"/>
              <a:t> </a:t>
            </a:r>
            <a:r>
              <a:rPr lang="de-DE" dirty="0" err="1"/>
              <a:t>description</a:t>
            </a:r>
            <a:r>
              <a:rPr lang="de-DE" dirty="0"/>
              <a:t> will </a:t>
            </a:r>
            <a:r>
              <a:rPr lang="de-DE" dirty="0" err="1"/>
              <a:t>be</a:t>
            </a:r>
            <a:r>
              <a:rPr lang="de-DE" dirty="0"/>
              <a:t> </a:t>
            </a:r>
            <a:r>
              <a:rPr lang="de-DE" dirty="0" err="1"/>
              <a:t>to</a:t>
            </a:r>
            <a:r>
              <a:rPr lang="de-DE"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Know what options you have to interface with </a:t>
            </a:r>
            <a:r>
              <a:rPr lang="en-US" dirty="0" err="1"/>
              <a:t>Coscine</a:t>
            </a:r>
            <a:r>
              <a:rPr lang="en-US" dirty="0"/>
              <a:t>. </a:t>
            </a:r>
            <a:r>
              <a:rPr lang="de-DE" dirty="0" err="1"/>
              <a:t>Which</a:t>
            </a:r>
            <a:r>
              <a:rPr lang="de-DE" dirty="0"/>
              <a:t> </a:t>
            </a:r>
            <a:r>
              <a:rPr lang="de-DE" dirty="0" err="1"/>
              <a:t>are</a:t>
            </a:r>
            <a:r>
              <a:rPr lang="de-DE" dirty="0"/>
              <a:t>:</a:t>
            </a:r>
          </a:p>
          <a:p>
            <a:pPr marL="628650" lvl="1" indent="-171450" algn="l">
              <a:buFont typeface="Arial" panose="020B0604020202020204" pitchFamily="34" charset="0"/>
              <a:buChar char="•"/>
            </a:pPr>
            <a:r>
              <a:rPr lang="en-US" b="0" i="0" dirty="0">
                <a:effectLst/>
                <a:latin typeface="Segoe UI" panose="020B0502040204020203" pitchFamily="34" charset="0"/>
              </a:rPr>
              <a:t>(Web UI)</a:t>
            </a:r>
          </a:p>
          <a:p>
            <a:pPr marL="628650" lvl="1" indent="-171450" algn="l">
              <a:buFont typeface="Arial" panose="020B0604020202020204" pitchFamily="34" charset="0"/>
              <a:buChar char="•"/>
            </a:pPr>
            <a:r>
              <a:rPr lang="en-US" b="0" i="0" dirty="0">
                <a:effectLst/>
                <a:latin typeface="Segoe UI" panose="020B0502040204020203" pitchFamily="34" charset="0"/>
              </a:rPr>
              <a:t>(REST API)</a:t>
            </a:r>
          </a:p>
          <a:p>
            <a:pPr marL="628650" lvl="1" indent="-171450" algn="l">
              <a:buFont typeface="Arial" panose="020B0604020202020204" pitchFamily="34" charset="0"/>
              <a:buChar char="•"/>
            </a:pPr>
            <a:r>
              <a:rPr lang="en-US" b="0" i="0" dirty="0" err="1">
                <a:effectLst/>
                <a:latin typeface="Segoe UI" panose="020B0502040204020203" pitchFamily="34" charset="0"/>
              </a:rPr>
              <a:t>Coscine</a:t>
            </a:r>
            <a:r>
              <a:rPr lang="en-US" b="0" i="0" dirty="0">
                <a:effectLst/>
                <a:latin typeface="Segoe UI" panose="020B0502040204020203" pitchFamily="34" charset="0"/>
              </a:rPr>
              <a:t> Python SDK</a:t>
            </a:r>
          </a:p>
        </p:txBody>
      </p:sp>
    </p:spTree>
    <p:extLst>
      <p:ext uri="{BB962C8B-B14F-4D97-AF65-F5344CB8AC3E}">
        <p14:creationId xmlns:p14="http://schemas.microsoft.com/office/powerpoint/2010/main" val="4216174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7872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Coscine employs a REST API, an application programming interface, which allows you to interact with the data and metadata store in various ways. </a:t>
            </a:r>
          </a:p>
          <a:p>
            <a:endParaRPr lang="en-US" dirty="0"/>
          </a:p>
          <a:p>
            <a:r>
              <a:rPr lang="en-US" dirty="0"/>
              <a:t>The Web UI is one example of interfacing with Coscine–and it uses the API in the background. </a:t>
            </a:r>
          </a:p>
          <a:p>
            <a:endParaRPr lang="en-US" dirty="0"/>
          </a:p>
          <a:p>
            <a:r>
              <a:rPr lang="en-US" dirty="0"/>
              <a:t>You can use command line tools such as </a:t>
            </a:r>
            <a:r>
              <a:rPr lang="en-US" dirty="0" err="1"/>
              <a:t>cURL</a:t>
            </a:r>
            <a:r>
              <a:rPr lang="en-US" dirty="0"/>
              <a:t> to write and send requests, interacting with the API directly. </a:t>
            </a:r>
          </a:p>
          <a:p>
            <a:endParaRPr lang="en-US" dirty="0"/>
          </a:p>
          <a:p>
            <a:r>
              <a:rPr lang="en-US" dirty="0"/>
              <a:t>And you can use the Coscine Pythion SDK (Software Development Kit), which allows you to interact with Coscine through the API in a more Pythonic way. Aside from being familiar to Python programmers, it is similar to the web UI, in that it offers and easier way to deal with metadata, allowing you to use a fillable, dictionary-like form. </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374151"/>
                </a:solidFill>
                <a:effectLst/>
                <a:latin typeface="Söhne"/>
              </a:rPr>
              <a:t>(A REST API, short for Representational State Transfer Application Programming Interface, is an architectural style guiding the design and interaction of web services. It utilizes standard HTTP methods and is often paired with JSON or XML for data representation.)</a:t>
            </a:r>
          </a:p>
          <a:p>
            <a:endParaRPr lang="en-US" dirty="0"/>
          </a:p>
        </p:txBody>
      </p:sp>
    </p:spTree>
    <p:extLst>
      <p:ext uri="{BB962C8B-B14F-4D97-AF65-F5344CB8AC3E}">
        <p14:creationId xmlns:p14="http://schemas.microsoft.com/office/powerpoint/2010/main" val="2202643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12529"/>
                </a:solidFill>
                <a:effectLst/>
                <a:latin typeface="ui-sans-serif"/>
              </a:rPr>
              <a:t>Metadata profiles may be familiar if you have attended the last workshop in the series or if you have used </a:t>
            </a:r>
            <a:r>
              <a:rPr lang="en-US" b="0" i="0" dirty="0" err="1">
                <a:solidFill>
                  <a:srgbClr val="212529"/>
                </a:solidFill>
                <a:effectLst/>
                <a:latin typeface="ui-sans-serif"/>
              </a:rPr>
              <a:t>Coscine</a:t>
            </a:r>
            <a:r>
              <a:rPr lang="en-US" b="0" i="0" dirty="0">
                <a:solidFill>
                  <a:srgbClr val="212529"/>
                </a:solidFill>
                <a:effectLst/>
                <a:latin typeface="ui-sans-serif"/>
              </a:rPr>
              <a:t> already.</a:t>
            </a:r>
          </a:p>
          <a:p>
            <a:r>
              <a:rPr lang="en-US" b="0" i="0" dirty="0">
                <a:solidFill>
                  <a:srgbClr val="212529"/>
                </a:solidFill>
                <a:effectLst/>
                <a:latin typeface="ui-sans-serif"/>
              </a:rPr>
              <a:t>Metadata profiles can be extensive and include many fields that would be quite time consuming to fill out manually.</a:t>
            </a:r>
          </a:p>
          <a:p>
            <a:r>
              <a:rPr lang="en-US" b="0" i="0" dirty="0">
                <a:solidFill>
                  <a:srgbClr val="212529"/>
                </a:solidFill>
                <a:effectLst/>
                <a:latin typeface="ui-sans-serif"/>
              </a:rPr>
              <a:t>For today you should all have received an invite to the project Automating (Meta)data.</a:t>
            </a:r>
          </a:p>
          <a:p>
            <a:r>
              <a:rPr lang="en-US" b="0" i="0" dirty="0">
                <a:solidFill>
                  <a:srgbClr val="212529"/>
                </a:solidFill>
                <a:effectLst/>
                <a:latin typeface="ui-sans-serif"/>
              </a:rPr>
              <a:t>Our resource called “Text” which we will be working with contains the Base AP so it is small and easy to manage.</a:t>
            </a:r>
          </a:p>
          <a:p>
            <a:r>
              <a:rPr lang="en-US" b="0" i="0" dirty="0">
                <a:solidFill>
                  <a:srgbClr val="212529"/>
                </a:solidFill>
                <a:effectLst/>
                <a:latin typeface="ui-sans-serif"/>
              </a:rPr>
              <a:t>We also will be working with a resource “Test Images” that is just the Base AP that was extended.</a:t>
            </a:r>
            <a:br>
              <a:rPr lang="en-US" b="0" i="0" dirty="0">
                <a:solidFill>
                  <a:srgbClr val="212529"/>
                </a:solidFill>
                <a:effectLst/>
                <a:latin typeface="ui-sans-serif"/>
              </a:rPr>
            </a:br>
            <a:endParaRPr lang="en-US" dirty="0"/>
          </a:p>
        </p:txBody>
      </p:sp>
      <p:sp>
        <p:nvSpPr>
          <p:cNvPr id="4" name="Slide Number Placeholder 3"/>
          <p:cNvSpPr>
            <a:spLocks noGrp="1"/>
          </p:cNvSpPr>
          <p:nvPr>
            <p:ph type="sldNum" sz="quarter" idx="5"/>
          </p:nvPr>
        </p:nvSpPr>
        <p:spPr/>
        <p:txBody>
          <a:bodyPr/>
          <a:lstStyle/>
          <a:p>
            <a:fld id="{7A9B8795-6E5A-4773-AE7F-C341FDBE16B3}" type="slidenum">
              <a:rPr lang="en-US" smtClean="0"/>
              <a:t>6</a:t>
            </a:fld>
            <a:endParaRPr lang="en-US"/>
          </a:p>
        </p:txBody>
      </p:sp>
    </p:spTree>
    <p:extLst>
      <p:ext uri="{BB962C8B-B14F-4D97-AF65-F5344CB8AC3E}">
        <p14:creationId xmlns:p14="http://schemas.microsoft.com/office/powerpoint/2010/main" val="416681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err="1"/>
              <a:t>Our</a:t>
            </a:r>
            <a:r>
              <a:rPr lang="de-DE" dirty="0"/>
              <a:t> </a:t>
            </a:r>
            <a:r>
              <a:rPr lang="de-DE" dirty="0" err="1"/>
              <a:t>goal</a:t>
            </a:r>
            <a:r>
              <a:rPr lang="de-DE" dirty="0"/>
              <a:t> </a:t>
            </a:r>
            <a:r>
              <a:rPr lang="de-DE" dirty="0" err="1"/>
              <a:t>with</a:t>
            </a:r>
            <a:r>
              <a:rPr lang="de-DE" dirty="0"/>
              <a:t> </a:t>
            </a:r>
            <a:r>
              <a:rPr lang="de-DE" dirty="0" err="1"/>
              <a:t>using</a:t>
            </a:r>
            <a:r>
              <a:rPr lang="de-DE" dirty="0"/>
              <a:t> </a:t>
            </a:r>
            <a:r>
              <a:rPr lang="de-DE" dirty="0" err="1"/>
              <a:t>the</a:t>
            </a:r>
            <a:r>
              <a:rPr lang="de-DE" dirty="0"/>
              <a:t> Python SDK and </a:t>
            </a:r>
            <a:r>
              <a:rPr lang="de-DE" dirty="0" err="1"/>
              <a:t>Coscine</a:t>
            </a:r>
            <a:r>
              <a:rPr lang="de-DE" dirty="0"/>
              <a:t> </a:t>
            </a:r>
            <a:r>
              <a:rPr lang="de-DE" dirty="0" err="1"/>
              <a:t>is</a:t>
            </a:r>
            <a:r>
              <a:rPr lang="de-DE" dirty="0"/>
              <a:t> </a:t>
            </a:r>
            <a:r>
              <a:rPr lang="de-DE" dirty="0" err="1"/>
              <a:t>to</a:t>
            </a:r>
            <a:r>
              <a:rPr lang="de-DE" dirty="0"/>
              <a:t> </a:t>
            </a:r>
            <a:r>
              <a:rPr lang="de-DE" dirty="0" err="1"/>
              <a:t>create</a:t>
            </a:r>
            <a:r>
              <a:rPr lang="de-DE" dirty="0"/>
              <a:t> </a:t>
            </a:r>
            <a:r>
              <a:rPr lang="de-DE" dirty="0" err="1"/>
              <a:t>automated</a:t>
            </a:r>
            <a:r>
              <a:rPr lang="de-DE" dirty="0"/>
              <a:t> </a:t>
            </a:r>
            <a:r>
              <a:rPr lang="de-DE" dirty="0" err="1"/>
              <a:t>workflows</a:t>
            </a:r>
            <a:r>
              <a:rPr lang="de-DE" dirty="0"/>
              <a:t> </a:t>
            </a:r>
            <a:r>
              <a:rPr lang="de-DE" dirty="0" err="1"/>
              <a:t>for</a:t>
            </a:r>
            <a:r>
              <a:rPr lang="de-DE" dirty="0"/>
              <a:t> </a:t>
            </a:r>
            <a:r>
              <a:rPr lang="de-DE" dirty="0" err="1"/>
              <a:t>researchers</a:t>
            </a:r>
            <a:r>
              <a:rPr lang="de-DE" dirty="0"/>
              <a:t>. With an </a:t>
            </a:r>
            <a:r>
              <a:rPr lang="de-DE" dirty="0" err="1"/>
              <a:t>automated</a:t>
            </a:r>
            <a:r>
              <a:rPr lang="de-DE" dirty="0"/>
              <a:t> RDM </a:t>
            </a:r>
            <a:r>
              <a:rPr lang="de-DE" dirty="0" err="1"/>
              <a:t>workflow</a:t>
            </a:r>
            <a:r>
              <a:rPr lang="de-DE" dirty="0"/>
              <a:t>, </a:t>
            </a:r>
            <a:r>
              <a:rPr lang="de-DE" dirty="0" err="1"/>
              <a:t>researchers</a:t>
            </a:r>
            <a:r>
              <a:rPr lang="de-DE" dirty="0"/>
              <a:t> </a:t>
            </a:r>
            <a:r>
              <a:rPr lang="de-DE" dirty="0" err="1"/>
              <a:t>can</a:t>
            </a:r>
            <a:r>
              <a:rPr lang="de-DE" dirty="0"/>
              <a:t> FAIRLY </a:t>
            </a:r>
            <a:r>
              <a:rPr lang="de-DE" dirty="0" err="1"/>
              <a:t>store</a:t>
            </a:r>
            <a:r>
              <a:rPr lang="de-DE" dirty="0"/>
              <a:t> </a:t>
            </a:r>
            <a:r>
              <a:rPr lang="de-DE" dirty="0" err="1"/>
              <a:t>data</a:t>
            </a:r>
            <a:r>
              <a:rPr lang="de-DE" dirty="0"/>
              <a:t> and </a:t>
            </a:r>
            <a:r>
              <a:rPr lang="de-DE" dirty="0" err="1"/>
              <a:t>metadata</a:t>
            </a:r>
            <a:r>
              <a:rPr lang="de-DE" dirty="0"/>
              <a:t> </a:t>
            </a:r>
            <a:r>
              <a:rPr lang="de-DE" dirty="0" err="1"/>
              <a:t>is</a:t>
            </a:r>
            <a:r>
              <a:rPr lang="de-DE" dirty="0"/>
              <a:t> an quick and easy </a:t>
            </a:r>
            <a:r>
              <a:rPr lang="de-DE" dirty="0" err="1"/>
              <a:t>way</a:t>
            </a:r>
            <a:r>
              <a:rPr lang="de-DE" dirty="0"/>
              <a:t>. </a:t>
            </a:r>
          </a:p>
          <a:p>
            <a:endParaRPr lang="de-DE"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de-DE" dirty="0" err="1"/>
              <a:t>While</a:t>
            </a:r>
            <a:r>
              <a:rPr lang="de-DE" dirty="0"/>
              <a:t> </a:t>
            </a:r>
            <a:r>
              <a:rPr lang="de-DE" dirty="0" err="1"/>
              <a:t>there</a:t>
            </a:r>
            <a:r>
              <a:rPr lang="de-DE" dirty="0"/>
              <a:t> </a:t>
            </a:r>
            <a:r>
              <a:rPr lang="de-DE" dirty="0" err="1"/>
              <a:t>is</a:t>
            </a:r>
            <a:r>
              <a:rPr lang="de-DE" dirty="0"/>
              <a:t> </a:t>
            </a:r>
            <a:r>
              <a:rPr lang="de-DE" dirty="0" err="1"/>
              <a:t>some</a:t>
            </a:r>
            <a:r>
              <a:rPr lang="de-DE" dirty="0"/>
              <a:t> initial </a:t>
            </a:r>
            <a:r>
              <a:rPr lang="de-DE" dirty="0" err="1"/>
              <a:t>effort</a:t>
            </a:r>
            <a:r>
              <a:rPr lang="de-DE" dirty="0"/>
              <a:t>/time </a:t>
            </a:r>
            <a:r>
              <a:rPr lang="de-DE" dirty="0" err="1"/>
              <a:t>investment</a:t>
            </a:r>
            <a:r>
              <a:rPr lang="de-DE" dirty="0"/>
              <a:t> </a:t>
            </a:r>
            <a:r>
              <a:rPr lang="de-DE" dirty="0" err="1"/>
              <a:t>that‘s</a:t>
            </a:r>
            <a:r>
              <a:rPr lang="de-DE" dirty="0"/>
              <a:t> </a:t>
            </a:r>
            <a:r>
              <a:rPr lang="de-DE" dirty="0" err="1"/>
              <a:t>needed</a:t>
            </a:r>
            <a:r>
              <a:rPr lang="de-DE" dirty="0"/>
              <a:t> </a:t>
            </a:r>
            <a:r>
              <a:rPr lang="de-DE" dirty="0" err="1"/>
              <a:t>to</a:t>
            </a:r>
            <a:r>
              <a:rPr lang="de-DE" dirty="0"/>
              <a:t> </a:t>
            </a:r>
            <a:r>
              <a:rPr lang="de-DE" dirty="0" err="1"/>
              <a:t>write</a:t>
            </a:r>
            <a:r>
              <a:rPr lang="de-DE" dirty="0"/>
              <a:t> Python </a:t>
            </a:r>
            <a:r>
              <a:rPr lang="de-DE" dirty="0" err="1"/>
              <a:t>scripts</a:t>
            </a:r>
            <a:r>
              <a:rPr lang="de-DE" dirty="0"/>
              <a:t> </a:t>
            </a:r>
            <a:r>
              <a:rPr lang="de-DE" dirty="0" err="1"/>
              <a:t>this</a:t>
            </a:r>
            <a:r>
              <a:rPr lang="de-DE" dirty="0"/>
              <a:t> </a:t>
            </a:r>
            <a:r>
              <a:rPr lang="de-DE" dirty="0" err="1"/>
              <a:t>ultimately</a:t>
            </a:r>
            <a:r>
              <a:rPr lang="de-DE" dirty="0"/>
              <a:t> </a:t>
            </a:r>
            <a:r>
              <a:rPr lang="de-DE" dirty="0" err="1"/>
              <a:t>saves</a:t>
            </a:r>
            <a:r>
              <a:rPr lang="de-DE" dirty="0"/>
              <a:t> </a:t>
            </a:r>
            <a:r>
              <a:rPr lang="de-DE" dirty="0" err="1"/>
              <a:t>the</a:t>
            </a:r>
            <a:r>
              <a:rPr lang="de-DE" dirty="0"/>
              <a:t> </a:t>
            </a:r>
            <a:r>
              <a:rPr lang="de-DE" dirty="0" err="1"/>
              <a:t>researcher</a:t>
            </a:r>
            <a:r>
              <a:rPr lang="de-DE" dirty="0"/>
              <a:t> time. </a:t>
            </a:r>
          </a:p>
          <a:p>
            <a:endParaRPr lang="de-DE" dirty="0"/>
          </a:p>
          <a:p>
            <a:r>
              <a:rPr lang="de-DE" dirty="0" err="1"/>
              <a:t>For</a:t>
            </a:r>
            <a:r>
              <a:rPr lang="de-DE" dirty="0"/>
              <a:t> </a:t>
            </a:r>
            <a:r>
              <a:rPr lang="de-DE" dirty="0" err="1"/>
              <a:t>example</a:t>
            </a:r>
            <a:r>
              <a:rPr lang="de-DE" dirty="0"/>
              <a:t>, </a:t>
            </a:r>
            <a:r>
              <a:rPr lang="de-DE" dirty="0" err="1"/>
              <a:t>this</a:t>
            </a:r>
            <a:r>
              <a:rPr lang="de-DE" dirty="0"/>
              <a:t> </a:t>
            </a:r>
            <a:r>
              <a:rPr lang="de-DE" dirty="0" err="1"/>
              <a:t>is</a:t>
            </a:r>
            <a:r>
              <a:rPr lang="de-DE" dirty="0"/>
              <a:t> a </a:t>
            </a:r>
            <a:r>
              <a:rPr lang="de-DE" dirty="0" err="1"/>
              <a:t>flow</a:t>
            </a:r>
            <a:r>
              <a:rPr lang="de-DE" dirty="0"/>
              <a:t> </a:t>
            </a:r>
            <a:r>
              <a:rPr lang="de-DE" dirty="0" err="1"/>
              <a:t>cytometry</a:t>
            </a:r>
            <a:r>
              <a:rPr lang="de-DE" dirty="0"/>
              <a:t> </a:t>
            </a:r>
            <a:r>
              <a:rPr lang="de-DE" dirty="0" err="1"/>
              <a:t>file</a:t>
            </a:r>
            <a:r>
              <a:rPr lang="de-DE" dirty="0"/>
              <a:t> </a:t>
            </a:r>
            <a:r>
              <a:rPr lang="de-DE" dirty="0" err="1"/>
              <a:t>which</a:t>
            </a:r>
            <a:r>
              <a:rPr lang="de-DE" dirty="0"/>
              <a:t> </a:t>
            </a:r>
            <a:r>
              <a:rPr lang="de-DE" dirty="0" err="1"/>
              <a:t>appears</a:t>
            </a:r>
            <a:r>
              <a:rPr lang="de-DE" dirty="0"/>
              <a:t> </a:t>
            </a:r>
            <a:r>
              <a:rPr lang="de-DE" dirty="0" err="1"/>
              <a:t>as</a:t>
            </a:r>
            <a:r>
              <a:rPr lang="de-DE" dirty="0"/>
              <a:t> a </a:t>
            </a:r>
            <a:r>
              <a:rPr lang="de-DE" dirty="0" err="1"/>
              <a:t>dictionary</a:t>
            </a:r>
            <a:r>
              <a:rPr lang="de-DE" dirty="0"/>
              <a:t> </a:t>
            </a:r>
            <a:r>
              <a:rPr lang="de-DE" dirty="0" err="1"/>
              <a:t>with</a:t>
            </a:r>
            <a:r>
              <a:rPr lang="de-DE" dirty="0"/>
              <a:t> </a:t>
            </a:r>
            <a:r>
              <a:rPr lang="de-DE" dirty="0" err="1"/>
              <a:t>key</a:t>
            </a:r>
            <a:r>
              <a:rPr lang="de-DE" dirty="0"/>
              <a:t>, </a:t>
            </a:r>
            <a:r>
              <a:rPr lang="de-DE" dirty="0" err="1"/>
              <a:t>value</a:t>
            </a:r>
            <a:r>
              <a:rPr lang="de-DE" dirty="0"/>
              <a:t> </a:t>
            </a:r>
            <a:r>
              <a:rPr lang="de-DE" dirty="0" err="1"/>
              <a:t>pairs</a:t>
            </a:r>
            <a:r>
              <a:rPr lang="de-DE" dirty="0"/>
              <a:t>. </a:t>
            </a:r>
            <a:r>
              <a:rPr lang="de-DE" dirty="0" err="1"/>
              <a:t>Using</a:t>
            </a:r>
            <a:r>
              <a:rPr lang="de-DE" dirty="0"/>
              <a:t> Python </a:t>
            </a:r>
            <a:r>
              <a:rPr lang="de-DE" dirty="0" err="1"/>
              <a:t>we</a:t>
            </a:r>
            <a:r>
              <a:rPr lang="de-DE" dirty="0"/>
              <a:t> </a:t>
            </a:r>
            <a:r>
              <a:rPr lang="de-DE" dirty="0" err="1"/>
              <a:t>can</a:t>
            </a:r>
            <a:r>
              <a:rPr lang="de-DE" dirty="0"/>
              <a:t> </a:t>
            </a:r>
            <a:r>
              <a:rPr lang="de-DE" dirty="0" err="1"/>
              <a:t>extract</a:t>
            </a:r>
            <a:r>
              <a:rPr lang="de-DE" dirty="0"/>
              <a:t> </a:t>
            </a:r>
            <a:r>
              <a:rPr lang="de-DE" dirty="0" err="1"/>
              <a:t>the</a:t>
            </a:r>
            <a:r>
              <a:rPr lang="de-DE" dirty="0"/>
              <a:t> </a:t>
            </a:r>
            <a:r>
              <a:rPr lang="de-DE" dirty="0" err="1"/>
              <a:t>only</a:t>
            </a:r>
            <a:r>
              <a:rPr lang="de-DE" dirty="0"/>
              <a:t> </a:t>
            </a:r>
            <a:r>
              <a:rPr lang="de-DE" dirty="0" err="1"/>
              <a:t>the</a:t>
            </a:r>
            <a:r>
              <a:rPr lang="de-DE" dirty="0"/>
              <a:t> </a:t>
            </a:r>
            <a:r>
              <a:rPr lang="de-DE" dirty="0" err="1"/>
              <a:t>necessary</a:t>
            </a:r>
            <a:r>
              <a:rPr lang="de-DE" dirty="0"/>
              <a:t> </a:t>
            </a:r>
            <a:r>
              <a:rPr lang="de-DE" dirty="0" err="1"/>
              <a:t>values</a:t>
            </a:r>
            <a:r>
              <a:rPr lang="de-DE" dirty="0"/>
              <a:t> </a:t>
            </a:r>
            <a:r>
              <a:rPr lang="de-DE" dirty="0" err="1"/>
              <a:t>from</a:t>
            </a:r>
            <a:r>
              <a:rPr lang="de-DE" dirty="0"/>
              <a:t> </a:t>
            </a:r>
            <a:r>
              <a:rPr lang="de-DE" dirty="0" err="1"/>
              <a:t>the</a:t>
            </a:r>
            <a:r>
              <a:rPr lang="de-DE" dirty="0"/>
              <a:t> </a:t>
            </a:r>
            <a:r>
              <a:rPr lang="de-DE" dirty="0" err="1"/>
              <a:t>file</a:t>
            </a:r>
            <a:r>
              <a:rPr lang="de-DE" dirty="0"/>
              <a:t> and </a:t>
            </a:r>
            <a:r>
              <a:rPr lang="de-DE" dirty="0" err="1"/>
              <a:t>fill</a:t>
            </a:r>
            <a:r>
              <a:rPr lang="de-DE" dirty="0"/>
              <a:t> </a:t>
            </a:r>
            <a:r>
              <a:rPr lang="de-DE" dirty="0" err="1"/>
              <a:t>the</a:t>
            </a:r>
            <a:r>
              <a:rPr lang="de-DE" dirty="0"/>
              <a:t> </a:t>
            </a:r>
            <a:r>
              <a:rPr lang="de-DE" dirty="0" err="1"/>
              <a:t>metadata</a:t>
            </a:r>
            <a:r>
              <a:rPr lang="de-DE" dirty="0"/>
              <a:t> form. </a:t>
            </a:r>
            <a:r>
              <a:rPr lang="de-DE" dirty="0" err="1"/>
              <a:t>We</a:t>
            </a:r>
            <a:r>
              <a:rPr lang="de-DE" dirty="0"/>
              <a:t> </a:t>
            </a:r>
            <a:r>
              <a:rPr lang="de-DE" dirty="0" err="1"/>
              <a:t>can</a:t>
            </a:r>
            <a:r>
              <a:rPr lang="de-DE" dirty="0"/>
              <a:t> </a:t>
            </a:r>
            <a:r>
              <a:rPr lang="de-DE" dirty="0" err="1"/>
              <a:t>then</a:t>
            </a:r>
            <a:r>
              <a:rPr lang="de-DE" dirty="0"/>
              <a:t> send </a:t>
            </a:r>
            <a:r>
              <a:rPr lang="de-DE" dirty="0" err="1"/>
              <a:t>the</a:t>
            </a:r>
            <a:r>
              <a:rPr lang="de-DE" dirty="0"/>
              <a:t> </a:t>
            </a:r>
            <a:r>
              <a:rPr lang="de-DE" dirty="0" err="1"/>
              <a:t>file</a:t>
            </a:r>
            <a:r>
              <a:rPr lang="de-DE" dirty="0"/>
              <a:t> and </a:t>
            </a:r>
            <a:r>
              <a:rPr lang="de-DE" dirty="0" err="1"/>
              <a:t>the</a:t>
            </a:r>
            <a:r>
              <a:rPr lang="de-DE" dirty="0"/>
              <a:t> </a:t>
            </a:r>
            <a:r>
              <a:rPr lang="de-DE" dirty="0" err="1"/>
              <a:t>completed</a:t>
            </a:r>
            <a:r>
              <a:rPr lang="de-DE" dirty="0"/>
              <a:t> </a:t>
            </a:r>
            <a:r>
              <a:rPr lang="de-DE" dirty="0" err="1"/>
              <a:t>metadata</a:t>
            </a:r>
            <a:r>
              <a:rPr lang="de-DE" dirty="0"/>
              <a:t> form </a:t>
            </a:r>
            <a:r>
              <a:rPr lang="de-DE" dirty="0" err="1"/>
              <a:t>to</a:t>
            </a:r>
            <a:r>
              <a:rPr lang="de-DE" dirty="0"/>
              <a:t> </a:t>
            </a:r>
            <a:r>
              <a:rPr lang="de-DE" dirty="0" err="1"/>
              <a:t>Coscine</a:t>
            </a:r>
            <a:r>
              <a:rPr lang="de-DE" dirty="0"/>
              <a:t>. So </a:t>
            </a:r>
            <a:r>
              <a:rPr lang="de-DE" dirty="0" err="1"/>
              <a:t>if</a:t>
            </a:r>
            <a:r>
              <a:rPr lang="de-DE" dirty="0"/>
              <a:t> </a:t>
            </a:r>
            <a:r>
              <a:rPr lang="de-DE" dirty="0" err="1"/>
              <a:t>you</a:t>
            </a:r>
            <a:r>
              <a:rPr lang="de-DE" dirty="0"/>
              <a:t> </a:t>
            </a:r>
            <a:r>
              <a:rPr lang="de-DE" dirty="0" err="1"/>
              <a:t>go</a:t>
            </a:r>
            <a:r>
              <a:rPr lang="de-DE" dirty="0"/>
              <a:t> </a:t>
            </a:r>
            <a:r>
              <a:rPr lang="de-DE" dirty="0" err="1"/>
              <a:t>to</a:t>
            </a:r>
            <a:r>
              <a:rPr lang="de-DE" dirty="0"/>
              <a:t> </a:t>
            </a:r>
            <a:r>
              <a:rPr lang="de-DE" dirty="0" err="1"/>
              <a:t>Coscine</a:t>
            </a:r>
            <a:r>
              <a:rPr lang="de-DE" dirty="0"/>
              <a:t> </a:t>
            </a:r>
            <a:r>
              <a:rPr lang="de-DE" dirty="0" err="1"/>
              <a:t>you</a:t>
            </a:r>
            <a:r>
              <a:rPr lang="de-DE" dirty="0"/>
              <a:t> will </a:t>
            </a:r>
            <a:r>
              <a:rPr lang="de-DE" dirty="0" err="1"/>
              <a:t>see</a:t>
            </a:r>
            <a:r>
              <a:rPr lang="de-DE" dirty="0"/>
              <a:t> </a:t>
            </a:r>
            <a:r>
              <a:rPr lang="de-DE" dirty="0" err="1"/>
              <a:t>that</a:t>
            </a:r>
            <a:r>
              <a:rPr lang="de-DE" dirty="0"/>
              <a:t> </a:t>
            </a:r>
            <a:r>
              <a:rPr lang="de-DE" dirty="0" err="1"/>
              <a:t>this</a:t>
            </a:r>
            <a:r>
              <a:rPr lang="de-DE" dirty="0"/>
              <a:t> </a:t>
            </a:r>
            <a:r>
              <a:rPr lang="de-DE" dirty="0" err="1"/>
              <a:t>metadata</a:t>
            </a:r>
            <a:r>
              <a:rPr lang="de-DE" dirty="0"/>
              <a:t> form </a:t>
            </a:r>
            <a:r>
              <a:rPr lang="de-DE" dirty="0" err="1"/>
              <a:t>is</a:t>
            </a:r>
            <a:r>
              <a:rPr lang="de-DE" dirty="0"/>
              <a:t> </a:t>
            </a:r>
            <a:r>
              <a:rPr lang="de-DE" dirty="0" err="1"/>
              <a:t>now</a:t>
            </a:r>
            <a:r>
              <a:rPr lang="de-DE" dirty="0"/>
              <a:t> </a:t>
            </a:r>
            <a:r>
              <a:rPr lang="de-DE" dirty="0" err="1"/>
              <a:t>linked</a:t>
            </a:r>
            <a:r>
              <a:rPr lang="de-DE" dirty="0"/>
              <a:t> </a:t>
            </a:r>
            <a:r>
              <a:rPr lang="de-DE" dirty="0" err="1"/>
              <a:t>with</a:t>
            </a:r>
            <a:r>
              <a:rPr lang="de-DE" dirty="0"/>
              <a:t> </a:t>
            </a:r>
            <a:r>
              <a:rPr lang="de-DE" dirty="0" err="1"/>
              <a:t>the</a:t>
            </a:r>
            <a:r>
              <a:rPr lang="de-DE" dirty="0"/>
              <a:t> </a:t>
            </a:r>
            <a:r>
              <a:rPr lang="de-DE" dirty="0" err="1"/>
              <a:t>file</a:t>
            </a:r>
            <a:r>
              <a:rPr lang="de-DE" dirty="0"/>
              <a:t>. </a:t>
            </a:r>
          </a:p>
          <a:p>
            <a:endParaRPr lang="de-DE" dirty="0"/>
          </a:p>
          <a:p>
            <a:r>
              <a:rPr lang="de-DE" dirty="0"/>
              <a:t>So </a:t>
            </a:r>
            <a:r>
              <a:rPr lang="de-DE" dirty="0" err="1"/>
              <a:t>this</a:t>
            </a:r>
            <a:r>
              <a:rPr lang="de-DE" dirty="0"/>
              <a:t> </a:t>
            </a:r>
            <a:r>
              <a:rPr lang="de-DE" dirty="0" err="1"/>
              <a:t>is</a:t>
            </a:r>
            <a:r>
              <a:rPr lang="de-DE" dirty="0"/>
              <a:t> </a:t>
            </a:r>
            <a:r>
              <a:rPr lang="de-DE" dirty="0" err="1"/>
              <a:t>what</a:t>
            </a:r>
            <a:r>
              <a:rPr lang="de-DE" dirty="0"/>
              <a:t> </a:t>
            </a:r>
            <a:r>
              <a:rPr lang="de-DE" dirty="0" err="1"/>
              <a:t>we</a:t>
            </a:r>
            <a:r>
              <a:rPr lang="de-DE" dirty="0"/>
              <a:t> </a:t>
            </a:r>
            <a:r>
              <a:rPr lang="de-DE" dirty="0" err="1"/>
              <a:t>are</a:t>
            </a:r>
            <a:r>
              <a:rPr lang="de-DE" dirty="0"/>
              <a:t> </a:t>
            </a:r>
            <a:r>
              <a:rPr lang="de-DE" dirty="0" err="1"/>
              <a:t>going</a:t>
            </a:r>
            <a:r>
              <a:rPr lang="de-DE" dirty="0"/>
              <a:t> </a:t>
            </a:r>
            <a:r>
              <a:rPr lang="de-DE" dirty="0" err="1"/>
              <a:t>to</a:t>
            </a:r>
            <a:r>
              <a:rPr lang="de-DE" dirty="0"/>
              <a:t> </a:t>
            </a:r>
            <a:r>
              <a:rPr lang="de-DE" dirty="0" err="1"/>
              <a:t>learn</a:t>
            </a:r>
            <a:r>
              <a:rPr lang="de-DE" dirty="0"/>
              <a:t> </a:t>
            </a:r>
            <a:r>
              <a:rPr lang="de-DE" dirty="0" err="1"/>
              <a:t>how</a:t>
            </a:r>
            <a:r>
              <a:rPr lang="de-DE" dirty="0"/>
              <a:t> </a:t>
            </a:r>
            <a:r>
              <a:rPr lang="de-DE" dirty="0" err="1"/>
              <a:t>to</a:t>
            </a:r>
            <a:r>
              <a:rPr lang="de-DE" dirty="0"/>
              <a:t> do </a:t>
            </a:r>
            <a:r>
              <a:rPr lang="de-DE" dirty="0" err="1"/>
              <a:t>today</a:t>
            </a:r>
            <a:r>
              <a:rPr lang="de-DE" dirty="0"/>
              <a:t>. </a:t>
            </a:r>
            <a:r>
              <a:rPr lang="de-DE" dirty="0" err="1"/>
              <a:t>Now</a:t>
            </a:r>
            <a:r>
              <a:rPr lang="de-DE" dirty="0"/>
              <a:t> </a:t>
            </a:r>
            <a:r>
              <a:rPr lang="de-DE" dirty="0" err="1"/>
              <a:t>we‘ll</a:t>
            </a:r>
            <a:r>
              <a:rPr lang="de-DE" dirty="0"/>
              <a:t> </a:t>
            </a:r>
            <a:r>
              <a:rPr lang="de-DE" dirty="0" err="1"/>
              <a:t>get</a:t>
            </a:r>
            <a:r>
              <a:rPr lang="de-DE" dirty="0"/>
              <a:t> </a:t>
            </a:r>
            <a:r>
              <a:rPr lang="de-DE" dirty="0" err="1"/>
              <a:t>started</a:t>
            </a:r>
            <a:r>
              <a:rPr lang="de-DE" dirty="0"/>
              <a:t> </a:t>
            </a:r>
            <a:r>
              <a:rPr lang="de-DE" dirty="0" err="1"/>
              <a:t>with</a:t>
            </a:r>
            <a:r>
              <a:rPr lang="de-DE" dirty="0"/>
              <a:t> </a:t>
            </a:r>
            <a:r>
              <a:rPr lang="de-DE" dirty="0" err="1"/>
              <a:t>coding</a:t>
            </a:r>
            <a:r>
              <a:rPr lang="de-DE" dirty="0"/>
              <a:t>.</a:t>
            </a:r>
          </a:p>
          <a:p>
            <a:r>
              <a:rPr lang="de-DE" dirty="0"/>
              <a:t>Here </a:t>
            </a:r>
            <a:r>
              <a:rPr lang="de-DE" dirty="0" err="1"/>
              <a:t>is</a:t>
            </a:r>
            <a:r>
              <a:rPr lang="de-DE" dirty="0"/>
              <a:t> </a:t>
            </a:r>
            <a:r>
              <a:rPr lang="de-DE" dirty="0" err="1"/>
              <a:t>the</a:t>
            </a:r>
            <a:r>
              <a:rPr lang="de-DE" dirty="0"/>
              <a:t> link </a:t>
            </a:r>
            <a:r>
              <a:rPr lang="de-DE" dirty="0" err="1"/>
              <a:t>to</a:t>
            </a:r>
            <a:r>
              <a:rPr lang="de-DE" dirty="0"/>
              <a:t> </a:t>
            </a:r>
            <a:r>
              <a:rPr lang="de-DE" dirty="0" err="1"/>
              <a:t>our</a:t>
            </a:r>
            <a:r>
              <a:rPr lang="de-DE" dirty="0"/>
              <a:t> </a:t>
            </a:r>
            <a:r>
              <a:rPr lang="de-DE" dirty="0" err="1"/>
              <a:t>Github</a:t>
            </a:r>
            <a:r>
              <a:rPr lang="de-DE" dirty="0"/>
              <a:t> </a:t>
            </a:r>
            <a:r>
              <a:rPr lang="de-DE" dirty="0" err="1"/>
              <a:t>repository</a:t>
            </a:r>
            <a:r>
              <a:rPr lang="de-DE" dirty="0"/>
              <a:t>: </a:t>
            </a:r>
            <a:r>
              <a:rPr lang="en-US" dirty="0">
                <a:hlinkClick r:id="rId3"/>
              </a:rPr>
              <a:t>catgonzftw1/</a:t>
            </a:r>
            <a:r>
              <a:rPr lang="en-US" dirty="0" err="1">
                <a:hlinkClick r:id="rId3"/>
              </a:rPr>
              <a:t>MetadataTransferRDMII</a:t>
            </a:r>
            <a:r>
              <a:rPr lang="en-US" dirty="0">
                <a:hlinkClick r:id="rId3"/>
              </a:rPr>
              <a:t> (github.com)</a:t>
            </a:r>
            <a:endParaRPr lang="en-US" dirty="0"/>
          </a:p>
        </p:txBody>
      </p:sp>
    </p:spTree>
    <p:extLst>
      <p:ext uri="{BB962C8B-B14F-4D97-AF65-F5344CB8AC3E}">
        <p14:creationId xmlns:p14="http://schemas.microsoft.com/office/powerpoint/2010/main" val="2643815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err="1"/>
              <a:t>To</a:t>
            </a:r>
            <a:r>
              <a:rPr lang="de-DE" dirty="0"/>
              <a:t> </a:t>
            </a:r>
            <a:r>
              <a:rPr lang="de-DE" dirty="0" err="1"/>
              <a:t>summarize</a:t>
            </a:r>
            <a:r>
              <a:rPr lang="de-DE" dirty="0"/>
              <a:t> </a:t>
            </a:r>
            <a:r>
              <a:rPr lang="de-DE" dirty="0" err="1"/>
              <a:t>the</a:t>
            </a:r>
            <a:r>
              <a:rPr lang="de-DE" dirty="0"/>
              <a:t> </a:t>
            </a:r>
            <a:r>
              <a:rPr lang="de-DE" dirty="0" err="1"/>
              <a:t>workshop</a:t>
            </a:r>
            <a:r>
              <a:rPr lang="de-DE" dirty="0"/>
              <a:t> </a:t>
            </a:r>
            <a:r>
              <a:rPr lang="de-DE" dirty="0" err="1"/>
              <a:t>we</a:t>
            </a:r>
            <a:r>
              <a:rPr lang="de-DE" dirty="0"/>
              <a:t>…</a:t>
            </a:r>
          </a:p>
          <a:p>
            <a:endParaRPr lang="de-DE" dirty="0"/>
          </a:p>
          <a:p>
            <a:r>
              <a:rPr lang="de-DE" dirty="0" err="1"/>
              <a:t>Please</a:t>
            </a:r>
            <a:r>
              <a:rPr lang="de-DE" dirty="0"/>
              <a:t> </a:t>
            </a:r>
            <a:r>
              <a:rPr lang="de-DE" dirty="0" err="1"/>
              <a:t>remember</a:t>
            </a:r>
            <a:r>
              <a:rPr lang="de-DE" dirty="0"/>
              <a:t> </a:t>
            </a:r>
            <a:r>
              <a:rPr lang="de-DE" dirty="0" err="1"/>
              <a:t>to</a:t>
            </a:r>
            <a:r>
              <a:rPr lang="de-DE" dirty="0"/>
              <a:t> </a:t>
            </a:r>
            <a:r>
              <a:rPr lang="de-DE" dirty="0" err="1"/>
              <a:t>complete</a:t>
            </a:r>
            <a:r>
              <a:rPr lang="de-DE" dirty="0"/>
              <a:t> </a:t>
            </a:r>
            <a:r>
              <a:rPr lang="de-DE" dirty="0" err="1"/>
              <a:t>the</a:t>
            </a:r>
            <a:r>
              <a:rPr lang="de-DE" dirty="0"/>
              <a:t> </a:t>
            </a:r>
            <a:r>
              <a:rPr lang="de-DE" dirty="0" err="1"/>
              <a:t>survey</a:t>
            </a:r>
            <a:r>
              <a:rPr lang="de-DE" dirty="0"/>
              <a:t> </a:t>
            </a:r>
            <a:r>
              <a:rPr lang="de-DE" dirty="0" err="1"/>
              <a:t>for</a:t>
            </a:r>
            <a:r>
              <a:rPr lang="de-DE" dirty="0"/>
              <a:t> </a:t>
            </a:r>
            <a:r>
              <a:rPr lang="de-DE" dirty="0" err="1"/>
              <a:t>the</a:t>
            </a:r>
            <a:r>
              <a:rPr lang="de-DE" dirty="0"/>
              <a:t> </a:t>
            </a:r>
            <a:r>
              <a:rPr lang="de-DE" dirty="0" err="1"/>
              <a:t>course</a:t>
            </a:r>
            <a:r>
              <a:rPr lang="de-DE" dirty="0"/>
              <a:t> and </a:t>
            </a:r>
            <a:r>
              <a:rPr lang="de-DE" dirty="0" err="1"/>
              <a:t>let</a:t>
            </a:r>
            <a:r>
              <a:rPr lang="de-DE" dirty="0"/>
              <a:t> </a:t>
            </a:r>
            <a:r>
              <a:rPr lang="de-DE" dirty="0" err="1"/>
              <a:t>us</a:t>
            </a:r>
            <a:r>
              <a:rPr lang="de-DE" dirty="0"/>
              <a:t> </a:t>
            </a:r>
            <a:r>
              <a:rPr lang="de-DE" dirty="0" err="1"/>
              <a:t>know</a:t>
            </a:r>
            <a:r>
              <a:rPr lang="de-DE" dirty="0"/>
              <a:t> </a:t>
            </a:r>
            <a:r>
              <a:rPr lang="de-DE" dirty="0" err="1"/>
              <a:t>how</a:t>
            </a:r>
            <a:r>
              <a:rPr lang="de-DE" dirty="0"/>
              <a:t> </a:t>
            </a:r>
            <a:r>
              <a:rPr lang="de-DE" dirty="0" err="1"/>
              <a:t>you</a:t>
            </a:r>
            <a:r>
              <a:rPr lang="de-DE" dirty="0"/>
              <a:t> </a:t>
            </a:r>
            <a:r>
              <a:rPr lang="de-DE" dirty="0" err="1"/>
              <a:t>felt</a:t>
            </a:r>
            <a:r>
              <a:rPr lang="de-DE" dirty="0"/>
              <a:t> </a:t>
            </a:r>
            <a:r>
              <a:rPr lang="de-DE" dirty="0" err="1"/>
              <a:t>about</a:t>
            </a:r>
            <a:r>
              <a:rPr lang="de-DE" dirty="0"/>
              <a:t> it.</a:t>
            </a:r>
            <a:endParaRPr lang="en-US" dirty="0"/>
          </a:p>
        </p:txBody>
      </p:sp>
    </p:spTree>
    <p:extLst>
      <p:ext uri="{BB962C8B-B14F-4D97-AF65-F5344CB8AC3E}">
        <p14:creationId xmlns:p14="http://schemas.microsoft.com/office/powerpoint/2010/main" val="1988262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264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094360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_1/3 Farbe">
    <p:spTree>
      <p:nvGrpSpPr>
        <p:cNvPr id="1" name=""/>
        <p:cNvGrpSpPr/>
        <p:nvPr/>
      </p:nvGrpSpPr>
      <p:grpSpPr>
        <a:xfrm>
          <a:off x="0" y="0"/>
          <a:ext cx="0" cy="0"/>
          <a:chOff x="0" y="0"/>
          <a:chExt cx="0" cy="0"/>
        </a:xfrm>
      </p:grpSpPr>
      <p:sp>
        <p:nvSpPr>
          <p:cNvPr id="4" name="Rechteck 3"/>
          <p:cNvSpPr/>
          <p:nvPr/>
        </p:nvSpPr>
        <p:spPr>
          <a:xfrm>
            <a:off x="0" y="0"/>
            <a:ext cx="12192000" cy="2312988"/>
          </a:xfrm>
          <a:prstGeom prst="rect">
            <a:avLst/>
          </a:prstGeom>
          <a:solidFill>
            <a:srgbClr val="F6A800"/>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288000" bIns="0" anchor="ctr"/>
          <a:lstStyle/>
          <a:p>
            <a:pPr algn="ctr" eaLnBrk="1" fontAlgn="auto" hangingPunct="1">
              <a:spcBef>
                <a:spcPts val="0"/>
              </a:spcBef>
              <a:spcAft>
                <a:spcPts val="0"/>
              </a:spcAft>
              <a:defRPr/>
            </a:pPr>
            <a:endParaRPr lang="de-DE">
              <a:solidFill>
                <a:schemeClr val="bg1"/>
              </a:solidFill>
            </a:endParaRPr>
          </a:p>
        </p:txBody>
      </p:sp>
      <p:sp>
        <p:nvSpPr>
          <p:cNvPr id="7" name="Textfeld 6"/>
          <p:cNvSpPr txBox="1"/>
          <p:nvPr/>
        </p:nvSpPr>
        <p:spPr>
          <a:xfrm>
            <a:off x="-1776413" y="479425"/>
            <a:ext cx="1576388" cy="1323975"/>
          </a:xfrm>
          <a:prstGeom prst="rect">
            <a:avLst/>
          </a:prstGeom>
          <a:noFill/>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de-DE" altLang="de-DE" sz="1000" b="1"/>
              <a:t>Institutslogo:</a:t>
            </a:r>
          </a:p>
          <a:p>
            <a:pPr eaLnBrk="1" hangingPunct="1">
              <a:buFontTx/>
              <a:buChar char="-"/>
              <a:defRPr/>
            </a:pPr>
            <a:r>
              <a:rPr lang="de-DE" altLang="de-DE" sz="1000"/>
              <a:t>Dateiformat: PNG in RGB</a:t>
            </a:r>
          </a:p>
          <a:p>
            <a:pPr eaLnBrk="1" hangingPunct="1">
              <a:buFontTx/>
              <a:buChar char="-"/>
              <a:defRPr/>
            </a:pPr>
            <a:r>
              <a:rPr lang="de-DE" altLang="de-DE" sz="1000"/>
              <a:t>Skalieren auf</a:t>
            </a:r>
          </a:p>
          <a:p>
            <a:pPr eaLnBrk="1" hangingPunct="1">
              <a:defRPr/>
            </a:pPr>
            <a:r>
              <a:rPr lang="de-DE" altLang="de-DE" sz="1000"/>
              <a:t>     Höhe: 2,26 cm</a:t>
            </a:r>
          </a:p>
          <a:p>
            <a:pPr eaLnBrk="1" hangingPunct="1">
              <a:defRPr/>
            </a:pPr>
            <a:r>
              <a:rPr lang="de-DE" altLang="de-DE" sz="1000"/>
              <a:t>     (Breite variiert je nach   </a:t>
            </a:r>
          </a:p>
          <a:p>
            <a:pPr eaLnBrk="1" hangingPunct="1">
              <a:defRPr/>
            </a:pPr>
            <a:r>
              <a:rPr lang="de-DE" altLang="de-DE" sz="1000"/>
              <a:t>     Schutzraum)</a:t>
            </a:r>
          </a:p>
        </p:txBody>
      </p:sp>
      <p:sp>
        <p:nvSpPr>
          <p:cNvPr id="5" name="Title 1"/>
          <p:cNvSpPr>
            <a:spLocks noGrp="1"/>
          </p:cNvSpPr>
          <p:nvPr>
            <p:ph type="ctrTitle"/>
          </p:nvPr>
        </p:nvSpPr>
        <p:spPr>
          <a:xfrm>
            <a:off x="3852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9" name="Grafik 1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51938" y="6043613"/>
            <a:ext cx="2824162"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698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_1/3 Foto">
    <p:spTree>
      <p:nvGrpSpPr>
        <p:cNvPr id="1" name=""/>
        <p:cNvGrpSpPr/>
        <p:nvPr/>
      </p:nvGrpSpPr>
      <p:grpSpPr>
        <a:xfrm>
          <a:off x="0" y="0"/>
          <a:ext cx="0" cy="0"/>
          <a:chOff x="0" y="0"/>
          <a:chExt cx="0" cy="0"/>
        </a:xfrm>
      </p:grpSpPr>
      <p:sp>
        <p:nvSpPr>
          <p:cNvPr id="8" name="Textfeld 7"/>
          <p:cNvSpPr txBox="1"/>
          <p:nvPr/>
        </p:nvSpPr>
        <p:spPr>
          <a:xfrm>
            <a:off x="-1703388" y="495300"/>
            <a:ext cx="1439863" cy="1477963"/>
          </a:xfrm>
          <a:prstGeom prst="rect">
            <a:avLst/>
          </a:prstGeom>
          <a:noFill/>
        </p:spPr>
        <p:txBody>
          <a:bodyPr>
            <a:spAutoFit/>
          </a:bodyPr>
          <a:lstStyle/>
          <a:p>
            <a:pPr eaLnBrk="1" fontAlgn="auto" hangingPunct="1">
              <a:spcBef>
                <a:spcPts val="0"/>
              </a:spcBef>
              <a:spcAft>
                <a:spcPts val="0"/>
              </a:spcAft>
              <a:defRPr/>
            </a:pPr>
            <a:r>
              <a:rPr lang="de-DE" sz="1000" b="1" dirty="0">
                <a:latin typeface="+mn-lt"/>
                <a:ea typeface="+mn-ea"/>
              </a:rPr>
              <a:t>Bild zuschneiden unter:</a:t>
            </a:r>
          </a:p>
          <a:p>
            <a:pPr marL="171450" indent="-171450" eaLnBrk="1" fontAlgn="auto" hangingPunct="1">
              <a:spcBef>
                <a:spcPts val="0"/>
              </a:spcBef>
              <a:spcAft>
                <a:spcPts val="0"/>
              </a:spcAft>
              <a:buFontTx/>
              <a:buChar char="-"/>
              <a:defRPr/>
            </a:pPr>
            <a:r>
              <a:rPr lang="de-DE" sz="1000" dirty="0">
                <a:latin typeface="+mn-lt"/>
                <a:ea typeface="+mn-ea"/>
              </a:rPr>
              <a:t>Format</a:t>
            </a:r>
          </a:p>
          <a:p>
            <a:pPr marL="171450" indent="-171450" eaLnBrk="1" fontAlgn="auto" hangingPunct="1">
              <a:spcBef>
                <a:spcPts val="0"/>
              </a:spcBef>
              <a:spcAft>
                <a:spcPts val="0"/>
              </a:spcAft>
              <a:buFontTx/>
              <a:buChar char="-"/>
              <a:defRPr/>
            </a:pPr>
            <a:r>
              <a:rPr lang="de-DE" sz="1000" dirty="0">
                <a:latin typeface="+mn-lt"/>
                <a:ea typeface="+mn-ea"/>
              </a:rPr>
              <a:t>Zuschneiden</a:t>
            </a:r>
          </a:p>
          <a:p>
            <a:pPr marL="171450" indent="-171450" eaLnBrk="1" fontAlgn="auto" hangingPunct="1">
              <a:spcBef>
                <a:spcPts val="0"/>
              </a:spcBef>
              <a:spcAft>
                <a:spcPts val="0"/>
              </a:spcAft>
              <a:buFontTx/>
              <a:buChar char="-"/>
              <a:defRPr/>
            </a:pPr>
            <a:r>
              <a:rPr lang="de-DE" sz="1000" dirty="0" err="1">
                <a:latin typeface="+mn-lt"/>
                <a:ea typeface="+mn-ea"/>
              </a:rPr>
              <a:t>Zuschneidewerkzeug</a:t>
            </a:r>
            <a:r>
              <a:rPr lang="de-DE" sz="1000" dirty="0">
                <a:latin typeface="+mn-lt"/>
                <a:ea typeface="+mn-ea"/>
              </a:rPr>
              <a:t> horizontal bis zur ersten oder zweiten Linie ziehen</a:t>
            </a:r>
          </a:p>
        </p:txBody>
      </p:sp>
      <p:sp>
        <p:nvSpPr>
          <p:cNvPr id="5"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9" name="Grafik 1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51938" y="6043613"/>
            <a:ext cx="2824162"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Grafik 1"/>
          <p:cNvPicPr>
            <a:picLocks noChangeAspect="1"/>
          </p:cNvPicPr>
          <p:nvPr userDrawn="1"/>
        </p:nvPicPr>
        <p:blipFill rotWithShape="1">
          <a:blip r:embed="rId3">
            <a:extLst>
              <a:ext uri="{28A0092B-C50C-407E-A947-70E740481C1C}">
                <a14:useLocalDpi xmlns:a14="http://schemas.microsoft.com/office/drawing/2010/main" val="0"/>
              </a:ext>
            </a:extLst>
          </a:blip>
          <a:srcRect t="8113" b="18249"/>
          <a:stretch/>
        </p:blipFill>
        <p:spPr>
          <a:xfrm>
            <a:off x="-19500" y="1589"/>
            <a:ext cx="12230999" cy="2279794"/>
          </a:xfrm>
          <a:prstGeom prst="rect">
            <a:avLst/>
          </a:prstGeom>
        </p:spPr>
      </p:pic>
    </p:spTree>
    <p:extLst>
      <p:ext uri="{BB962C8B-B14F-4D97-AF65-F5344CB8AC3E}">
        <p14:creationId xmlns:p14="http://schemas.microsoft.com/office/powerpoint/2010/main" val="1044386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_2/3 Foto">
    <p:spTree>
      <p:nvGrpSpPr>
        <p:cNvPr id="1" name=""/>
        <p:cNvGrpSpPr/>
        <p:nvPr/>
      </p:nvGrpSpPr>
      <p:grpSpPr>
        <a:xfrm>
          <a:off x="0" y="0"/>
          <a:ext cx="0" cy="0"/>
          <a:chOff x="0" y="0"/>
          <a:chExt cx="0" cy="0"/>
        </a:xfrm>
      </p:grpSpPr>
      <p:sp>
        <p:nvSpPr>
          <p:cNvPr id="4" name="Textfeld 3"/>
          <p:cNvSpPr txBox="1"/>
          <p:nvPr/>
        </p:nvSpPr>
        <p:spPr>
          <a:xfrm>
            <a:off x="-1703388" y="495300"/>
            <a:ext cx="1439863" cy="1477963"/>
          </a:xfrm>
          <a:prstGeom prst="rect">
            <a:avLst/>
          </a:prstGeom>
          <a:noFill/>
        </p:spPr>
        <p:txBody>
          <a:bodyPr>
            <a:spAutoFit/>
          </a:bodyPr>
          <a:lstStyle/>
          <a:p>
            <a:pPr eaLnBrk="1" fontAlgn="auto" hangingPunct="1">
              <a:spcBef>
                <a:spcPts val="0"/>
              </a:spcBef>
              <a:spcAft>
                <a:spcPts val="0"/>
              </a:spcAft>
              <a:defRPr/>
            </a:pPr>
            <a:r>
              <a:rPr lang="de-DE" sz="1000" b="1" dirty="0">
                <a:latin typeface="+mn-lt"/>
                <a:ea typeface="+mn-ea"/>
              </a:rPr>
              <a:t>Bild zuschneiden unter:</a:t>
            </a:r>
          </a:p>
          <a:p>
            <a:pPr marL="171450" indent="-171450" eaLnBrk="1" fontAlgn="auto" hangingPunct="1">
              <a:spcBef>
                <a:spcPts val="0"/>
              </a:spcBef>
              <a:spcAft>
                <a:spcPts val="0"/>
              </a:spcAft>
              <a:buFontTx/>
              <a:buChar char="-"/>
              <a:defRPr/>
            </a:pPr>
            <a:r>
              <a:rPr lang="de-DE" sz="1000" dirty="0">
                <a:latin typeface="+mn-lt"/>
                <a:ea typeface="+mn-ea"/>
              </a:rPr>
              <a:t>Format</a:t>
            </a:r>
          </a:p>
          <a:p>
            <a:pPr marL="171450" indent="-171450" eaLnBrk="1" fontAlgn="auto" hangingPunct="1">
              <a:spcBef>
                <a:spcPts val="0"/>
              </a:spcBef>
              <a:spcAft>
                <a:spcPts val="0"/>
              </a:spcAft>
              <a:buFontTx/>
              <a:buChar char="-"/>
              <a:defRPr/>
            </a:pPr>
            <a:r>
              <a:rPr lang="de-DE" sz="1000" dirty="0">
                <a:latin typeface="+mn-lt"/>
                <a:ea typeface="+mn-ea"/>
              </a:rPr>
              <a:t>Zuschneiden</a:t>
            </a:r>
          </a:p>
          <a:p>
            <a:pPr marL="171450" indent="-171450" eaLnBrk="1" fontAlgn="auto" hangingPunct="1">
              <a:spcBef>
                <a:spcPts val="0"/>
              </a:spcBef>
              <a:spcAft>
                <a:spcPts val="0"/>
              </a:spcAft>
              <a:buFontTx/>
              <a:buChar char="-"/>
              <a:defRPr/>
            </a:pPr>
            <a:r>
              <a:rPr lang="de-DE" sz="1000" dirty="0" err="1">
                <a:latin typeface="+mn-lt"/>
                <a:ea typeface="+mn-ea"/>
              </a:rPr>
              <a:t>Zuschneidewerkzeug</a:t>
            </a:r>
            <a:r>
              <a:rPr lang="de-DE" sz="1000" dirty="0">
                <a:latin typeface="+mn-lt"/>
                <a:ea typeface="+mn-ea"/>
              </a:rPr>
              <a:t> horizontal bis zur ersten oder zweiten Linie ziehen</a:t>
            </a:r>
          </a:p>
        </p:txBody>
      </p:sp>
      <p:sp>
        <p:nvSpPr>
          <p:cNvPr id="10" name="Title 1"/>
          <p:cNvSpPr>
            <a:spLocks noGrp="1"/>
          </p:cNvSpPr>
          <p:nvPr>
            <p:ph type="ctrTitle"/>
          </p:nvPr>
        </p:nvSpPr>
        <p:spPr>
          <a:xfrm>
            <a:off x="384000" y="473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1" name="Subtitle 2"/>
          <p:cNvSpPr>
            <a:spLocks noGrp="1"/>
          </p:cNvSpPr>
          <p:nvPr>
            <p:ph type="subTitle" idx="1"/>
          </p:nvPr>
        </p:nvSpPr>
        <p:spPr>
          <a:xfrm>
            <a:off x="384000" y="5230801"/>
            <a:ext cx="11484000" cy="812813"/>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7" name="Grafik 1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51938" y="6043613"/>
            <a:ext cx="2824162"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Grafik 1"/>
          <p:cNvPicPr>
            <a:picLocks noChangeAspect="1"/>
          </p:cNvPicPr>
          <p:nvPr userDrawn="1"/>
        </p:nvPicPr>
        <p:blipFill rotWithShape="1">
          <a:blip r:embed="rId3" cstate="print">
            <a:extLst>
              <a:ext uri="{28A0092B-C50C-407E-A947-70E740481C1C}">
                <a14:useLocalDpi xmlns:a14="http://schemas.microsoft.com/office/drawing/2010/main" val="0"/>
              </a:ext>
            </a:extLst>
          </a:blip>
          <a:srcRect l="-76" t="1529" r="76" b="23217"/>
          <a:stretch/>
        </p:blipFill>
        <p:spPr>
          <a:xfrm>
            <a:off x="0" y="-58276"/>
            <a:ext cx="12192000" cy="4549276"/>
          </a:xfrm>
          <a:prstGeom prst="rect">
            <a:avLst/>
          </a:prstGeom>
        </p:spPr>
      </p:pic>
    </p:spTree>
    <p:extLst>
      <p:ext uri="{BB962C8B-B14F-4D97-AF65-F5344CB8AC3E}">
        <p14:creationId xmlns:p14="http://schemas.microsoft.com/office/powerpoint/2010/main" val="323383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_Text">
    <p:spTree>
      <p:nvGrpSpPr>
        <p:cNvPr id="1" name=""/>
        <p:cNvGrpSpPr/>
        <p:nvPr/>
      </p:nvGrpSpPr>
      <p:grpSpPr>
        <a:xfrm>
          <a:off x="0" y="0"/>
          <a:ext cx="0" cy="0"/>
          <a:chOff x="0" y="0"/>
          <a:chExt cx="0" cy="0"/>
        </a:xfrm>
      </p:grpSpPr>
      <p:cxnSp>
        <p:nvCxnSpPr>
          <p:cNvPr id="4" name="Gerader Verbinder 3"/>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2"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6" name="Grafik 1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51938" y="6043613"/>
            <a:ext cx="2824162"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2833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_mittig, horizontale Linie">
    <p:spTree>
      <p:nvGrpSpPr>
        <p:cNvPr id="1" name=""/>
        <p:cNvGrpSpPr/>
        <p:nvPr/>
      </p:nvGrpSpPr>
      <p:grpSpPr>
        <a:xfrm>
          <a:off x="0" y="0"/>
          <a:ext cx="0" cy="0"/>
          <a:chOff x="0" y="0"/>
          <a:chExt cx="0" cy="0"/>
        </a:xfrm>
      </p:grpSpPr>
      <p:cxnSp>
        <p:nvCxnSpPr>
          <p:cNvPr id="5" name="Gerader Verbinder 7"/>
          <p:cNvCxnSpPr/>
          <p:nvPr/>
        </p:nvCxnSpPr>
        <p:spPr>
          <a:xfrm>
            <a:off x="392113" y="303688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9" name="Subtitle 2"/>
          <p:cNvSpPr>
            <a:spLocks noGrp="1"/>
          </p:cNvSpPr>
          <p:nvPr>
            <p:ph type="subTitle" idx="1"/>
          </p:nvPr>
        </p:nvSpPr>
        <p:spPr>
          <a:xfrm>
            <a:off x="384000" y="3196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6" name="Grafik 1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51938" y="6043613"/>
            <a:ext cx="2824162"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9472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_Aufzählung">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a:xfrm>
            <a:off x="373038" y="1684800"/>
            <a:ext cx="11484000" cy="3193200"/>
          </a:xfrm>
          <a:prstGeom prst="rect">
            <a:avLst/>
          </a:prstGeo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en-US"/>
              <a:t>Click to edit Master title style</a:t>
            </a:r>
            <a:endParaRPr lang="en-US" dirty="0"/>
          </a:p>
        </p:txBody>
      </p:sp>
      <p:sp>
        <p:nvSpPr>
          <p:cNvPr id="6"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en-US"/>
              <a:t>Click to edit Master text styles</a:t>
            </a:r>
          </a:p>
        </p:txBody>
      </p:sp>
    </p:spTree>
    <p:extLst>
      <p:ext uri="{BB962C8B-B14F-4D97-AF65-F5344CB8AC3E}">
        <p14:creationId xmlns:p14="http://schemas.microsoft.com/office/powerpoint/2010/main" val="674962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Inhalt_Aufzählung">
    <p:spTree>
      <p:nvGrpSpPr>
        <p:cNvPr id="1" name=""/>
        <p:cNvGrpSpPr/>
        <p:nvPr/>
      </p:nvGrpSpPr>
      <p:grpSpPr>
        <a:xfrm>
          <a:off x="0" y="0"/>
          <a:ext cx="0" cy="0"/>
          <a:chOff x="0" y="0"/>
          <a:chExt cx="0" cy="0"/>
        </a:xfrm>
      </p:grpSpPr>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en-US"/>
              <a:t>Click to edit Master title style</a:t>
            </a:r>
            <a:endParaRPr lang="en-US" dirty="0"/>
          </a:p>
        </p:txBody>
      </p:sp>
      <p:sp>
        <p:nvSpPr>
          <p:cNvPr id="7" name="Textplatzhalter 11"/>
          <p:cNvSpPr>
            <a:spLocks noGrp="1"/>
          </p:cNvSpPr>
          <p:nvPr>
            <p:ph type="body" sz="quarter" idx="13"/>
          </p:nvPr>
        </p:nvSpPr>
        <p:spPr>
          <a:xfrm>
            <a:off x="373038" y="1151999"/>
            <a:ext cx="11484000" cy="4666909"/>
          </a:xfrm>
          <a:prstGeom prst="rect">
            <a:avLst/>
          </a:prstGeo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13833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_Text">
    <p:spTree>
      <p:nvGrpSpPr>
        <p:cNvPr id="1" name=""/>
        <p:cNvGrpSpPr/>
        <p:nvPr/>
      </p:nvGrpSpPr>
      <p:grpSpPr>
        <a:xfrm>
          <a:off x="0" y="0"/>
          <a:ext cx="0" cy="0"/>
          <a:chOff x="0" y="0"/>
          <a:chExt cx="0" cy="0"/>
        </a:xfrm>
      </p:grpSpPr>
      <p:sp>
        <p:nvSpPr>
          <p:cNvPr id="2"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en-US"/>
              <a:t>Click to edit Master text styles</a:t>
            </a:r>
          </a:p>
        </p:txBody>
      </p:sp>
      <p:sp>
        <p:nvSpPr>
          <p:cNvPr id="7" name="Textplatzhalter 6"/>
          <p:cNvSpPr>
            <a:spLocks noGrp="1"/>
          </p:cNvSpPr>
          <p:nvPr>
            <p:ph type="body" sz="quarter" idx="12"/>
          </p:nvPr>
        </p:nvSpPr>
        <p:spPr>
          <a:xfrm>
            <a:off x="383117" y="1684801"/>
            <a:ext cx="11484000" cy="3751263"/>
          </a:xfrm>
          <a:prstGeom prst="rect">
            <a:avLst/>
          </a:prstGeom>
        </p:spPr>
        <p:txBody>
          <a:bodyPr lIns="0" tIns="0" rIns="0" bIns="0"/>
          <a:lstStyle>
            <a:lvl1pPr marL="0" indent="0">
              <a:buFontTx/>
              <a:buNone/>
              <a:defRPr/>
            </a:lvl1pPr>
          </a:lstStyle>
          <a:p>
            <a:pPr lvl="0"/>
            <a:r>
              <a:rPr lang="en-US"/>
              <a:t>Click to edit Master text styles</a:t>
            </a:r>
          </a:p>
        </p:txBody>
      </p:sp>
    </p:spTree>
    <p:extLst>
      <p:ext uri="{BB962C8B-B14F-4D97-AF65-F5344CB8AC3E}">
        <p14:creationId xmlns:p14="http://schemas.microsoft.com/office/powerpoint/2010/main" val="3692969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nhalt_Text">
    <p:spTree>
      <p:nvGrpSpPr>
        <p:cNvPr id="1" name=""/>
        <p:cNvGrpSpPr/>
        <p:nvPr/>
      </p:nvGrpSpPr>
      <p:grpSpPr>
        <a:xfrm>
          <a:off x="0" y="0"/>
          <a:ext cx="0" cy="0"/>
          <a:chOff x="0" y="0"/>
          <a:chExt cx="0" cy="0"/>
        </a:xfrm>
      </p:grpSpPr>
      <p:sp>
        <p:nvSpPr>
          <p:cNvPr id="2"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en-US"/>
              <a:t>Click to edit Master title style</a:t>
            </a:r>
            <a:endParaRPr lang="en-US" dirty="0"/>
          </a:p>
        </p:txBody>
      </p:sp>
      <p:sp>
        <p:nvSpPr>
          <p:cNvPr id="5" name="Textplatzhalter 6"/>
          <p:cNvSpPr>
            <a:spLocks noGrp="1"/>
          </p:cNvSpPr>
          <p:nvPr>
            <p:ph type="body" sz="quarter" idx="12"/>
          </p:nvPr>
        </p:nvSpPr>
        <p:spPr>
          <a:xfrm>
            <a:off x="383117" y="1152000"/>
            <a:ext cx="11484000" cy="4694617"/>
          </a:xfrm>
          <a:prstGeom prst="rect">
            <a:avLst/>
          </a:prstGeom>
        </p:spPr>
        <p:txBody>
          <a:bodyPr lIns="0" tIns="0" rIns="0" bIns="0"/>
          <a:lstStyle>
            <a:lvl1pPr marL="0" indent="0">
              <a:buFontTx/>
              <a:buNone/>
              <a:defRPr/>
            </a:lvl1pPr>
          </a:lstStyle>
          <a:p>
            <a:pPr lvl="0"/>
            <a:r>
              <a:rPr lang="en-US"/>
              <a:t>Click to edit Master text styles</a:t>
            </a:r>
          </a:p>
        </p:txBody>
      </p:sp>
    </p:spTree>
    <p:extLst>
      <p:ext uri="{BB962C8B-B14F-4D97-AF65-F5344CB8AC3E}">
        <p14:creationId xmlns:p14="http://schemas.microsoft.com/office/powerpoint/2010/main" val="1600630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_Text_Bild">
    <p:spTree>
      <p:nvGrpSpPr>
        <p:cNvPr id="1" name=""/>
        <p:cNvGrpSpPr/>
        <p:nvPr/>
      </p:nvGrpSpPr>
      <p:grpSpPr>
        <a:xfrm>
          <a:off x="0" y="0"/>
          <a:ext cx="0" cy="0"/>
          <a:chOff x="0" y="0"/>
          <a:chExt cx="0" cy="0"/>
        </a:xfrm>
      </p:grpSpPr>
      <p:pic>
        <p:nvPicPr>
          <p:cNvPr id="5" name="Grafik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07375" y="1684338"/>
            <a:ext cx="3635375" cy="398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platzhalter 11"/>
          <p:cNvSpPr>
            <a:spLocks noGrp="1"/>
          </p:cNvSpPr>
          <p:nvPr>
            <p:ph type="body" sz="quarter" idx="14"/>
          </p:nvPr>
        </p:nvSpPr>
        <p:spPr>
          <a:xfrm>
            <a:off x="383117" y="1684800"/>
            <a:ext cx="7560000" cy="3985955"/>
          </a:xfrm>
          <a:prstGeom prst="rect">
            <a:avLst/>
          </a:prstGeo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en-US"/>
              <a:t>Click to edit Master title style</a:t>
            </a:r>
            <a:endParaRPr lang="en-US" dirty="0"/>
          </a:p>
        </p:txBody>
      </p:sp>
      <p:sp>
        <p:nvSpPr>
          <p:cNvPr id="7"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en-US"/>
              <a:t>Click to edit Master text styles</a:t>
            </a:r>
          </a:p>
        </p:txBody>
      </p:sp>
    </p:spTree>
    <p:extLst>
      <p:ext uri="{BB962C8B-B14F-4D97-AF65-F5344CB8AC3E}">
        <p14:creationId xmlns:p14="http://schemas.microsoft.com/office/powerpoint/2010/main" val="1239191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_Bild">
    <p:spTree>
      <p:nvGrpSpPr>
        <p:cNvPr id="1" name=""/>
        <p:cNvGrpSpPr/>
        <p:nvPr/>
      </p:nvGrpSpPr>
      <p:grpSpPr>
        <a:xfrm>
          <a:off x="0" y="0"/>
          <a:ext cx="0" cy="0"/>
          <a:chOff x="0" y="0"/>
          <a:chExt cx="0" cy="0"/>
        </a:xfrm>
      </p:grpSpPr>
      <p:pic>
        <p:nvPicPr>
          <p:cNvPr id="4" name="Grafik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5763" y="1152525"/>
            <a:ext cx="11480800"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platzhalter 9"/>
          <p:cNvSpPr>
            <a:spLocks noGrp="1"/>
          </p:cNvSpPr>
          <p:nvPr>
            <p:ph type="body" sz="quarter" idx="13"/>
          </p:nvPr>
        </p:nvSpPr>
        <p:spPr>
          <a:xfrm>
            <a:off x="383117" y="5359401"/>
            <a:ext cx="11484000" cy="499533"/>
          </a:xfrm>
          <a:prstGeom prst="rect">
            <a:avLst/>
          </a:prstGeom>
        </p:spPr>
        <p:txBody>
          <a:bodyPr>
            <a:normAutofit/>
          </a:bodyPr>
          <a:lstStyle>
            <a:lvl1pPr marL="0" indent="0" algn="r">
              <a:buNone/>
              <a:defRPr sz="900" baseline="0"/>
            </a:lvl1pPr>
          </a:lstStyle>
          <a:p>
            <a:pPr lvl="0"/>
            <a:r>
              <a:rPr lang="en-US"/>
              <a:t>Click to edit Master text styles</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463209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_Diagramm">
    <p:spTree>
      <p:nvGrpSpPr>
        <p:cNvPr id="1" name=""/>
        <p:cNvGrpSpPr/>
        <p:nvPr/>
      </p:nvGrpSpPr>
      <p:grpSpPr>
        <a:xfrm>
          <a:off x="0" y="0"/>
          <a:ext cx="0" cy="0"/>
          <a:chOff x="0" y="0"/>
          <a:chExt cx="0" cy="0"/>
        </a:xfrm>
      </p:grpSpPr>
      <p:sp>
        <p:nvSpPr>
          <p:cNvPr id="12" name="Textplatzhalter 24"/>
          <p:cNvSpPr>
            <a:spLocks noGrp="1"/>
          </p:cNvSpPr>
          <p:nvPr>
            <p:ph type="body" sz="quarter" idx="11"/>
          </p:nvPr>
        </p:nvSpPr>
        <p:spPr>
          <a:xfrm>
            <a:off x="384000" y="1152000"/>
            <a:ext cx="11484000" cy="252000"/>
          </a:xfrm>
          <a:prstGeom prst="rect">
            <a:avLst/>
          </a:prstGeom>
        </p:spPr>
        <p:txBody>
          <a:bodyPr lIns="0" tIns="0" rIns="0" bIns="0"/>
          <a:lstStyle>
            <a:lvl1pPr marL="0" indent="0">
              <a:lnSpc>
                <a:spcPct val="100000"/>
              </a:lnSpc>
              <a:buFontTx/>
              <a:buNone/>
              <a:defRPr sz="2000" b="1"/>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text styles</a:t>
            </a:r>
          </a:p>
        </p:txBody>
      </p:sp>
      <p:sp>
        <p:nvSpPr>
          <p:cNvPr id="9" name="Diagrammplatzhalter 8"/>
          <p:cNvSpPr>
            <a:spLocks noGrp="1"/>
          </p:cNvSpPr>
          <p:nvPr>
            <p:ph type="chart" sz="quarter" idx="13"/>
          </p:nvPr>
        </p:nvSpPr>
        <p:spPr>
          <a:xfrm>
            <a:off x="383117" y="1684800"/>
            <a:ext cx="11484000" cy="3632200"/>
          </a:xfrm>
          <a:prstGeom prst="rect">
            <a:avLst/>
          </a:prstGeom>
        </p:spPr>
        <p:txBody>
          <a:bodyPr lIns="0" tIns="0" rIns="0" bIns="0"/>
          <a:lstStyle/>
          <a:p>
            <a:pPr lvl="0"/>
            <a:r>
              <a:rPr lang="en-US" noProof="0"/>
              <a:t>Click icon to add chart</a:t>
            </a:r>
            <a:endParaRPr lang="de-DE" noProof="0"/>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104296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bschlussfolie">
    <p:spTree>
      <p:nvGrpSpPr>
        <p:cNvPr id="1" name=""/>
        <p:cNvGrpSpPr/>
        <p:nvPr/>
      </p:nvGrpSpPr>
      <p:grpSpPr>
        <a:xfrm>
          <a:off x="0" y="0"/>
          <a:ext cx="0" cy="0"/>
          <a:chOff x="0" y="0"/>
          <a:chExt cx="0" cy="0"/>
        </a:xfrm>
      </p:grpSpPr>
      <p:sp>
        <p:nvSpPr>
          <p:cNvPr id="3" name="Title 1"/>
          <p:cNvSpPr txBox="1">
            <a:spLocks/>
          </p:cNvSpPr>
          <p:nvPr/>
        </p:nvSpPr>
        <p:spPr>
          <a:xfrm>
            <a:off x="382588" y="2487613"/>
            <a:ext cx="11483975" cy="1079500"/>
          </a:xfrm>
          <a:prstGeom prst="rect">
            <a:avLst/>
          </a:prstGeom>
        </p:spPr>
        <p:txBody>
          <a:bodyPr lIns="0" tIns="0" rIns="0" bIns="0"/>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90000"/>
              </a:lnSpc>
              <a:defRPr/>
            </a:pPr>
            <a:r>
              <a:rPr lang="de-DE" altLang="de-DE" sz="3200" b="1">
                <a:solidFill>
                  <a:schemeClr val="tx2"/>
                </a:solidFill>
              </a:rPr>
              <a:t>Vielen Dank</a:t>
            </a:r>
            <a:br>
              <a:rPr lang="de-DE" altLang="de-DE" sz="3200" b="1">
                <a:solidFill>
                  <a:schemeClr val="tx2"/>
                </a:solidFill>
              </a:rPr>
            </a:br>
            <a:r>
              <a:rPr lang="de-DE" altLang="de-DE" sz="3200" b="1">
                <a:solidFill>
                  <a:schemeClr val="tx2"/>
                </a:solidFill>
              </a:rPr>
              <a:t>für Ihre Aufmerksamkeit</a:t>
            </a:r>
            <a:endParaRPr lang="en-US" altLang="de-DE" sz="3200" b="1">
              <a:solidFill>
                <a:schemeClr val="tx2"/>
              </a:solidFill>
            </a:endParaRPr>
          </a:p>
        </p:txBody>
      </p:sp>
      <p:cxnSp>
        <p:nvCxnSpPr>
          <p:cNvPr id="5" name="Gerader Verbinder 11"/>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platzhalter 24"/>
          <p:cNvSpPr>
            <a:spLocks noGrp="1"/>
          </p:cNvSpPr>
          <p:nvPr>
            <p:ph type="body" sz="quarter" idx="11"/>
          </p:nvPr>
        </p:nvSpPr>
        <p:spPr>
          <a:xfrm>
            <a:off x="384000" y="3988800"/>
            <a:ext cx="11484000" cy="1656000"/>
          </a:xfrm>
          <a:prstGeom prst="rect">
            <a:avLst/>
          </a:prstGeom>
        </p:spPr>
        <p:txBody>
          <a:bodyPr lIns="0" tIns="0" rIns="0" bIns="0"/>
          <a:lstStyle>
            <a:lvl1pPr marL="0" indent="0">
              <a:lnSpc>
                <a:spcPct val="100000"/>
              </a:lnSpc>
              <a:spcBef>
                <a:spcPts val="0"/>
              </a:spcBef>
              <a:buFontTx/>
              <a:buNone/>
              <a:defRPr sz="1600" b="0"/>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text styles</a:t>
            </a:r>
          </a:p>
        </p:txBody>
      </p:sp>
      <p:pic>
        <p:nvPicPr>
          <p:cNvPr id="6" name="Grafik 1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51938" y="6043613"/>
            <a:ext cx="2824162"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8695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1F2E0-BCAF-3C88-E7F0-30A9E1DB3A2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1977AEA1-C581-B419-5FF9-1EA463B5F8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94C34BC5-13FC-84DF-2E67-11785EFC48A8}"/>
              </a:ext>
            </a:extLst>
          </p:cNvPr>
          <p:cNvSpPr>
            <a:spLocks noGrp="1"/>
          </p:cNvSpPr>
          <p:nvPr>
            <p:ph type="dt" sz="half" idx="10"/>
          </p:nvPr>
        </p:nvSpPr>
        <p:spPr/>
        <p:txBody>
          <a:bodyPr/>
          <a:lstStyle/>
          <a:p>
            <a:fld id="{25FC8F2C-5A3F-A64D-B47F-AECB7AB35132}" type="datetimeFigureOut">
              <a:rPr lang="en-DE" smtClean="0"/>
              <a:t>06/09/2026</a:t>
            </a:fld>
            <a:endParaRPr lang="en-DE"/>
          </a:p>
        </p:txBody>
      </p:sp>
      <p:sp>
        <p:nvSpPr>
          <p:cNvPr id="5" name="Footer Placeholder 4">
            <a:extLst>
              <a:ext uri="{FF2B5EF4-FFF2-40B4-BE49-F238E27FC236}">
                <a16:creationId xmlns:a16="http://schemas.microsoft.com/office/drawing/2014/main" id="{95DAC22F-AEF7-3A8B-C89D-F9A87C43F37F}"/>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FDAE66D8-DD0F-0215-5465-C3DF5A044721}"/>
              </a:ext>
            </a:extLst>
          </p:cNvPr>
          <p:cNvSpPr>
            <a:spLocks noGrp="1"/>
          </p:cNvSpPr>
          <p:nvPr>
            <p:ph type="sldNum" sz="quarter" idx="12"/>
          </p:nvPr>
        </p:nvSpPr>
        <p:spPr/>
        <p:txBody>
          <a:bodyPr/>
          <a:lstStyle/>
          <a:p>
            <a:fld id="{63E92073-3151-F64D-A585-EA57D13209D8}" type="slidenum">
              <a:rPr lang="en-DE" smtClean="0"/>
              <a:t>‹#›</a:t>
            </a:fld>
            <a:endParaRPr lang="en-DE"/>
          </a:p>
        </p:txBody>
      </p:sp>
    </p:spTree>
    <p:extLst>
      <p:ext uri="{BB962C8B-B14F-4D97-AF65-F5344CB8AC3E}">
        <p14:creationId xmlns:p14="http://schemas.microsoft.com/office/powerpoint/2010/main" val="1290857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EA6E-BAD8-F9F9-3BDD-52066CA4CF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40ED76-064D-54D3-D1DA-356FE8A60A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B83874-2E95-0A07-EAE9-3E8A987EED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7DAEE6-9E0B-CF5D-9450-95AF936FCEBD}"/>
              </a:ext>
            </a:extLst>
          </p:cNvPr>
          <p:cNvSpPr>
            <a:spLocks noGrp="1"/>
          </p:cNvSpPr>
          <p:nvPr>
            <p:ph type="dt" sz="half" idx="10"/>
          </p:nvPr>
        </p:nvSpPr>
        <p:spPr/>
        <p:txBody>
          <a:bodyPr/>
          <a:lstStyle/>
          <a:p>
            <a:fld id="{569F7948-3883-4421-8F20-E22B506DFE86}" type="datetimeFigureOut">
              <a:rPr lang="en-US" smtClean="0"/>
              <a:t>6/9/2026</a:t>
            </a:fld>
            <a:endParaRPr lang="en-US"/>
          </a:p>
        </p:txBody>
      </p:sp>
      <p:sp>
        <p:nvSpPr>
          <p:cNvPr id="6" name="Footer Placeholder 5">
            <a:extLst>
              <a:ext uri="{FF2B5EF4-FFF2-40B4-BE49-F238E27FC236}">
                <a16:creationId xmlns:a16="http://schemas.microsoft.com/office/drawing/2014/main" id="{6203F33E-EA5B-5584-7B30-0F49840209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5416C2-0049-7FBD-BB32-56D905A8EAEC}"/>
              </a:ext>
            </a:extLst>
          </p:cNvPr>
          <p:cNvSpPr>
            <a:spLocks noGrp="1"/>
          </p:cNvSpPr>
          <p:nvPr>
            <p:ph type="sldNum" sz="quarter" idx="12"/>
          </p:nvPr>
        </p:nvSpPr>
        <p:spPr/>
        <p:txBody>
          <a:bodyPr/>
          <a:lstStyle/>
          <a:p>
            <a:fld id="{01EC753D-D8F2-45FE-B6AA-F3A5FAB4C2C5}" type="slidenum">
              <a:rPr lang="en-US" smtClean="0"/>
              <a:t>‹#›</a:t>
            </a:fld>
            <a:endParaRPr lang="en-US"/>
          </a:p>
        </p:txBody>
      </p:sp>
    </p:spTree>
    <p:extLst>
      <p:ext uri="{BB962C8B-B14F-4D97-AF65-F5344CB8AC3E}">
        <p14:creationId xmlns:p14="http://schemas.microsoft.com/office/powerpoint/2010/main" val="1879724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Slide Number Placeholder 5"/>
          <p:cNvSpPr txBox="1">
            <a:spLocks/>
          </p:cNvSpPr>
          <p:nvPr/>
        </p:nvSpPr>
        <p:spPr>
          <a:xfrm>
            <a:off x="1195388" y="6227763"/>
            <a:ext cx="7002462" cy="630237"/>
          </a:xfrm>
          <a:prstGeom prst="rect">
            <a:avLst/>
          </a:prstGeom>
        </p:spPr>
        <p:txBody>
          <a:bodyPr lIns="0" tIns="0" rIns="0" bIns="0"/>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de-DE" altLang="de-DE" sz="900" dirty="0" err="1">
                <a:solidFill>
                  <a:schemeClr val="tx2"/>
                </a:solidFill>
              </a:rPr>
              <a:t>Automating</a:t>
            </a:r>
            <a:r>
              <a:rPr lang="de-DE" altLang="de-DE" sz="900" dirty="0">
                <a:solidFill>
                  <a:schemeClr val="tx2"/>
                </a:solidFill>
              </a:rPr>
              <a:t> </a:t>
            </a:r>
            <a:r>
              <a:rPr lang="de-DE" altLang="de-DE" sz="900" dirty="0" err="1">
                <a:solidFill>
                  <a:schemeClr val="tx2"/>
                </a:solidFill>
              </a:rPr>
              <a:t>Metadata</a:t>
            </a:r>
            <a:r>
              <a:rPr lang="de-DE" altLang="de-DE" sz="900" dirty="0">
                <a:solidFill>
                  <a:schemeClr val="tx2"/>
                </a:solidFill>
              </a:rPr>
              <a:t> | Catherine Gonzalez | RWTH/UKA | 27.11.2024 | RDM II-modular</a:t>
            </a:r>
          </a:p>
        </p:txBody>
      </p:sp>
      <p:cxnSp>
        <p:nvCxnSpPr>
          <p:cNvPr id="11" name="Gerader Verbinder 10"/>
          <p:cNvCxnSpPr/>
          <p:nvPr/>
        </p:nvCxnSpPr>
        <p:spPr>
          <a:xfrm>
            <a:off x="360363" y="81438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30" name="Textfeld 6"/>
          <p:cNvSpPr txBox="1">
            <a:spLocks noChangeArrowheads="1"/>
          </p:cNvSpPr>
          <p:nvPr/>
        </p:nvSpPr>
        <p:spPr bwMode="auto">
          <a:xfrm>
            <a:off x="-1784350" y="5073650"/>
            <a:ext cx="1668462"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de-DE" altLang="de-DE" sz="1000" b="1"/>
              <a:t>Fußzeile anpassen:</a:t>
            </a:r>
            <a:endParaRPr lang="de-DE" altLang="de-DE" sz="1000"/>
          </a:p>
          <a:p>
            <a:pPr eaLnBrk="1" hangingPunct="1">
              <a:defRPr/>
            </a:pPr>
            <a:r>
              <a:rPr lang="de-DE" altLang="de-DE" sz="1000"/>
              <a:t>Zum Anpassen der Fußzeile unter Karteireiter Ansicht &gt; auf Folienmaster klicken. Links in der Übersicht auf die oberste Folie scrollen und dort in die Fußzeile klicken. So wird der Text automatisch auf allen Seiten angepasst.</a:t>
            </a:r>
            <a:endParaRPr lang="de-DE" altLang="de-DE" sz="1000" b="1"/>
          </a:p>
        </p:txBody>
      </p:sp>
      <p:sp>
        <p:nvSpPr>
          <p:cNvPr id="1031" name="Textfeld 13"/>
          <p:cNvSpPr txBox="1">
            <a:spLocks noChangeArrowheads="1"/>
          </p:cNvSpPr>
          <p:nvPr/>
        </p:nvSpPr>
        <p:spPr bwMode="auto">
          <a:xfrm>
            <a:off x="360363" y="6227763"/>
            <a:ext cx="7302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59A1F31-B1D3-44CB-832C-FF8F92E61526}" type="slidenum">
              <a:rPr lang="de-DE" altLang="de-DE" sz="900">
                <a:solidFill>
                  <a:schemeClr val="tx2"/>
                </a:solidFill>
              </a:rPr>
              <a:pPr eaLnBrk="1" hangingPunct="1"/>
              <a:t>‹#›</a:t>
            </a:fld>
            <a:endParaRPr lang="de-DE" altLang="de-DE" sz="900">
              <a:solidFill>
                <a:schemeClr val="tx2"/>
              </a:solidFill>
            </a:endParaRPr>
          </a:p>
        </p:txBody>
      </p:sp>
      <p:pic>
        <p:nvPicPr>
          <p:cNvPr id="8" name="Grafik 12"/>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51938" y="6043613"/>
            <a:ext cx="2824162"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57" r:id="rId6"/>
    <p:sldLayoutId id="2147483868" r:id="rId7"/>
    <p:sldLayoutId id="2147483858" r:id="rId8"/>
    <p:sldLayoutId id="2147483869" r:id="rId9"/>
    <p:sldLayoutId id="2147483865" r:id="rId10"/>
    <p:sldLayoutId id="2147483866" r:id="rId11"/>
    <p:sldLayoutId id="2147483859" r:id="rId12"/>
    <p:sldLayoutId id="2147483867" r:id="rId13"/>
    <p:sldLayoutId id="2147483873" r:id="rId14"/>
    <p:sldLayoutId id="2147483874" r:id="rId15"/>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5900" indent="-215900" algn="l" defTabSz="215900" rtl="0" eaLnBrk="1" fontAlgn="base" hangingPunct="1">
        <a:spcBef>
          <a:spcPct val="0"/>
        </a:spcBef>
        <a:spcAft>
          <a:spcPct val="0"/>
        </a:spcAft>
        <a:buClr>
          <a:schemeClr val="tx2"/>
        </a:buClr>
        <a:buFont typeface="Arial" panose="020B0604020202020204" pitchFamily="34"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anose="05050102010706020507"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anose="05000000000000000000"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panose="020B0604020202020204" pitchFamily="34"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hyperlink" Target="https://coscine.rwth-aachen.de/"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coscine.pages.rwth-aachen.de/community-features/coscine-technical-adaption/"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https://coscine.pages.rwth-aachen.de/community-features/coscine-python-sdk/index.html" TargetMode="External"/><Relationship Id="rId4" Type="http://schemas.openxmlformats.org/officeDocument/2006/relationships/hyperlink" Target="https://coscine.rwth-aachen.de/coscine/apps/apidocs/#tag/admin"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mailto:c.gonzalez@itc.rwth-aachen.de"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el 1"/>
          <p:cNvSpPr>
            <a:spLocks noGrp="1"/>
          </p:cNvSpPr>
          <p:nvPr>
            <p:ph type="ctrTitle"/>
          </p:nvPr>
        </p:nvSpPr>
        <p:spPr bwMode="auto">
          <a:xfrm>
            <a:off x="492627" y="2637162"/>
            <a:ext cx="11483975" cy="539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lgn="l"/>
            <a:r>
              <a:rPr lang="en-US" sz="4400" b="0" i="0" dirty="0">
                <a:solidFill>
                  <a:srgbClr val="00549F"/>
                </a:solidFill>
                <a:effectLst/>
                <a:latin typeface="arial" panose="020B0604020202020204" pitchFamily="34" charset="0"/>
              </a:rPr>
              <a:t>Automating (Meta)Data Transfer to </a:t>
            </a:r>
            <a:r>
              <a:rPr lang="en-US" sz="4400" b="0" i="0" dirty="0" err="1">
                <a:solidFill>
                  <a:srgbClr val="00549F"/>
                </a:solidFill>
                <a:effectLst/>
                <a:latin typeface="arial" panose="020B0604020202020204" pitchFamily="34" charset="0"/>
              </a:rPr>
              <a:t>Coscine</a:t>
            </a:r>
            <a:endParaRPr lang="en-US" sz="4400" b="0" i="0" dirty="0">
              <a:solidFill>
                <a:srgbClr val="00549F"/>
              </a:solidFill>
              <a:effectLst/>
              <a:latin typeface="arial" panose="020B0604020202020204" pitchFamily="34" charset="0"/>
            </a:endParaRPr>
          </a:p>
        </p:txBody>
      </p:sp>
      <p:sp>
        <p:nvSpPr>
          <p:cNvPr id="11267" name="Untertitel 2"/>
          <p:cNvSpPr>
            <a:spLocks noGrp="1"/>
          </p:cNvSpPr>
          <p:nvPr>
            <p:ph type="subTitle" idx="1"/>
          </p:nvPr>
        </p:nvSpPr>
        <p:spPr bwMode="auto">
          <a:xfrm>
            <a:off x="324168" y="4140262"/>
            <a:ext cx="11286997" cy="136891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r>
              <a:rPr lang="en-US" sz="2400" dirty="0">
                <a:latin typeface="+mj-lt"/>
              </a:rPr>
              <a:t>Catherine Gonzalez</a:t>
            </a:r>
          </a:p>
          <a:p>
            <a:r>
              <a:rPr lang="en-US" sz="2400" dirty="0">
                <a:latin typeface="+mj-lt"/>
              </a:rPr>
              <a:t>Data Steward</a:t>
            </a:r>
          </a:p>
          <a:p>
            <a:r>
              <a:rPr lang="en-US" sz="2400" dirty="0">
                <a:latin typeface="+mj-lt"/>
              </a:rPr>
              <a:t>CRC-1382/NFDI4Microbiota</a:t>
            </a:r>
          </a:p>
        </p:txBody>
      </p:sp>
      <p:sp>
        <p:nvSpPr>
          <p:cNvPr id="2" name="TextBox 1">
            <a:extLst>
              <a:ext uri="{FF2B5EF4-FFF2-40B4-BE49-F238E27FC236}">
                <a16:creationId xmlns:a16="http://schemas.microsoft.com/office/drawing/2014/main" id="{5C8126C3-D8E8-D2AA-8FC1-7EBC4017F7F7}"/>
              </a:ext>
            </a:extLst>
          </p:cNvPr>
          <p:cNvSpPr txBox="1"/>
          <p:nvPr/>
        </p:nvSpPr>
        <p:spPr>
          <a:xfrm>
            <a:off x="6595849" y="4140262"/>
            <a:ext cx="6397271" cy="1200329"/>
          </a:xfrm>
          <a:prstGeom prst="rect">
            <a:avLst/>
          </a:prstGeom>
          <a:noFill/>
        </p:spPr>
        <p:txBody>
          <a:bodyPr wrap="square" rtlCol="0">
            <a:spAutoFit/>
          </a:bodyPr>
          <a:lstStyle/>
          <a:p>
            <a:r>
              <a:rPr lang="en-US" sz="2400" dirty="0">
                <a:latin typeface="+mj-lt"/>
              </a:rPr>
              <a:t>Helpers: Jonathan Hartman</a:t>
            </a:r>
          </a:p>
          <a:p>
            <a:r>
              <a:rPr lang="en-US" sz="2400" dirty="0">
                <a:latin typeface="+mj-lt"/>
              </a:rPr>
              <a:t>	    Data Scientist/Consultant</a:t>
            </a:r>
          </a:p>
          <a:p>
            <a:r>
              <a:rPr lang="en-US" sz="2400" dirty="0">
                <a:latin typeface="+mj-lt"/>
              </a:rPr>
              <a:t>               DKZ.2r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5A46-B573-6D8C-E526-2F37A0F53325}"/>
              </a:ext>
            </a:extLst>
          </p:cNvPr>
          <p:cNvSpPr>
            <a:spLocks noGrp="1"/>
          </p:cNvSpPr>
          <p:nvPr>
            <p:ph type="title"/>
          </p:nvPr>
        </p:nvSpPr>
        <p:spPr>
          <a:xfrm>
            <a:off x="384000" y="201600"/>
            <a:ext cx="11484000" cy="543600"/>
          </a:xfrm>
        </p:spPr>
        <p:txBody>
          <a:bodyPr/>
          <a:lstStyle/>
          <a:p>
            <a:br>
              <a:rPr lang="de-DE" dirty="0"/>
            </a:br>
            <a:r>
              <a:rPr lang="de-DE" sz="4000" dirty="0"/>
              <a:t>Guidelines</a:t>
            </a:r>
            <a:endParaRPr lang="en-US" dirty="0"/>
          </a:p>
        </p:txBody>
      </p:sp>
      <p:sp>
        <p:nvSpPr>
          <p:cNvPr id="10" name="Text Placeholder 9">
            <a:extLst>
              <a:ext uri="{FF2B5EF4-FFF2-40B4-BE49-F238E27FC236}">
                <a16:creationId xmlns:a16="http://schemas.microsoft.com/office/drawing/2014/main" id="{4CDF72AA-002B-C5DB-FB79-A5014BC14568}"/>
              </a:ext>
            </a:extLst>
          </p:cNvPr>
          <p:cNvSpPr>
            <a:spLocks noGrp="1"/>
          </p:cNvSpPr>
          <p:nvPr>
            <p:ph type="body" sz="quarter" idx="13"/>
          </p:nvPr>
        </p:nvSpPr>
        <p:spPr>
          <a:xfrm>
            <a:off x="373038" y="1151999"/>
            <a:ext cx="11484000" cy="4666909"/>
          </a:xfrm>
        </p:spPr>
        <p:txBody>
          <a:bodyPr/>
          <a:lstStyle/>
          <a:p>
            <a:pPr>
              <a:spcAft>
                <a:spcPts val="600"/>
              </a:spcAft>
            </a:pPr>
            <a:r>
              <a:rPr lang="en-US" sz="2400" dirty="0"/>
              <a:t>Use welcoming and inclusive language</a:t>
            </a:r>
          </a:p>
          <a:p>
            <a:pPr>
              <a:spcAft>
                <a:spcPts val="600"/>
              </a:spcAft>
            </a:pPr>
            <a:r>
              <a:rPr lang="en-US" sz="2400" dirty="0"/>
              <a:t>Be respectful of different viewpoints and experiences</a:t>
            </a:r>
          </a:p>
          <a:p>
            <a:pPr>
              <a:spcAft>
                <a:spcPts val="600"/>
              </a:spcAft>
            </a:pPr>
            <a:r>
              <a:rPr lang="en-US" sz="2400" dirty="0"/>
              <a:t>Gracefully accept constructive criticism</a:t>
            </a:r>
          </a:p>
          <a:p>
            <a:pPr>
              <a:spcAft>
                <a:spcPts val="600"/>
              </a:spcAft>
            </a:pPr>
            <a:r>
              <a:rPr lang="en-US" sz="2400" dirty="0"/>
              <a:t>Focus on what is best for the community</a:t>
            </a:r>
          </a:p>
          <a:p>
            <a:pPr>
              <a:spcAft>
                <a:spcPts val="600"/>
              </a:spcAft>
            </a:pPr>
            <a:r>
              <a:rPr lang="en-US" sz="2400" dirty="0"/>
              <a:t>Show courtesy and respect towards other community members</a:t>
            </a:r>
          </a:p>
          <a:p>
            <a:pPr>
              <a:spcAft>
                <a:spcPts val="600"/>
              </a:spcAft>
            </a:pPr>
            <a:r>
              <a:rPr lang="de-DE" sz="2400" dirty="0"/>
              <a:t>Questions </a:t>
            </a:r>
            <a:r>
              <a:rPr lang="de-DE" sz="2400" dirty="0" err="1"/>
              <a:t>are</a:t>
            </a:r>
            <a:r>
              <a:rPr lang="de-DE" sz="2400" dirty="0"/>
              <a:t> </a:t>
            </a:r>
            <a:r>
              <a:rPr lang="de-DE" sz="2400" dirty="0" err="1"/>
              <a:t>encouraged</a:t>
            </a:r>
            <a:r>
              <a:rPr lang="de-DE" sz="2400" dirty="0"/>
              <a:t>—just </a:t>
            </a:r>
            <a:r>
              <a:rPr lang="de-DE" sz="2400" dirty="0" err="1"/>
              <a:t>raise</a:t>
            </a:r>
            <a:r>
              <a:rPr lang="de-DE" sz="2400" dirty="0"/>
              <a:t> </a:t>
            </a:r>
            <a:r>
              <a:rPr lang="de-DE" sz="2400" dirty="0" err="1"/>
              <a:t>your</a:t>
            </a:r>
            <a:r>
              <a:rPr lang="de-DE" sz="2400" dirty="0"/>
              <a:t> </a:t>
            </a:r>
            <a:r>
              <a:rPr lang="de-DE" sz="2400" dirty="0" err="1"/>
              <a:t>hand</a:t>
            </a:r>
            <a:endParaRPr lang="de-DE" sz="2400" dirty="0"/>
          </a:p>
          <a:p>
            <a:endParaRPr lang="en-US" sz="2400" dirty="0"/>
          </a:p>
        </p:txBody>
      </p:sp>
    </p:spTree>
    <p:extLst>
      <p:ext uri="{BB962C8B-B14F-4D97-AF65-F5344CB8AC3E}">
        <p14:creationId xmlns:p14="http://schemas.microsoft.com/office/powerpoint/2010/main" val="1588614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DB996-288E-D36A-7A1A-05B47258CF4D}"/>
              </a:ext>
            </a:extLst>
          </p:cNvPr>
          <p:cNvSpPr>
            <a:spLocks noGrp="1"/>
          </p:cNvSpPr>
          <p:nvPr>
            <p:ph type="title"/>
          </p:nvPr>
        </p:nvSpPr>
        <p:spPr>
          <a:xfrm>
            <a:off x="384000" y="201600"/>
            <a:ext cx="11484000" cy="543600"/>
          </a:xfrm>
        </p:spPr>
        <p:txBody>
          <a:bodyPr/>
          <a:lstStyle/>
          <a:p>
            <a:r>
              <a:rPr lang="de-DE" sz="4000" dirty="0"/>
              <a:t>Course </a:t>
            </a:r>
            <a:r>
              <a:rPr lang="de-DE" sz="4000" dirty="0" err="1"/>
              <a:t>Objectives</a:t>
            </a:r>
            <a:endParaRPr lang="en-US" sz="4000" dirty="0"/>
          </a:p>
        </p:txBody>
      </p:sp>
      <p:sp>
        <p:nvSpPr>
          <p:cNvPr id="3" name="Subtitle 2">
            <a:extLst>
              <a:ext uri="{FF2B5EF4-FFF2-40B4-BE49-F238E27FC236}">
                <a16:creationId xmlns:a16="http://schemas.microsoft.com/office/drawing/2014/main" id="{99CA94E6-D746-BE57-00B1-08FA00650EFD}"/>
              </a:ext>
            </a:extLst>
          </p:cNvPr>
          <p:cNvSpPr>
            <a:spLocks noGrp="1"/>
          </p:cNvSpPr>
          <p:nvPr>
            <p:ph type="body" sz="quarter" idx="13"/>
          </p:nvPr>
        </p:nvSpPr>
        <p:spPr>
          <a:xfrm>
            <a:off x="373038" y="1151999"/>
            <a:ext cx="11484000" cy="4666909"/>
          </a:xfrm>
        </p:spPr>
        <p:txBody>
          <a:bodyPr/>
          <a:lstStyle/>
          <a:p>
            <a:pPr>
              <a:spcAft>
                <a:spcPts val="600"/>
              </a:spcAft>
            </a:pPr>
            <a:r>
              <a:rPr lang="en-US" sz="2400" dirty="0"/>
              <a:t>Know what options are available that we can use to interface with </a:t>
            </a:r>
            <a:r>
              <a:rPr lang="en-US" sz="2400" dirty="0" err="1"/>
              <a:t>Coscine</a:t>
            </a:r>
            <a:r>
              <a:rPr lang="en-US" sz="2400" dirty="0"/>
              <a:t> </a:t>
            </a:r>
          </a:p>
          <a:p>
            <a:pPr>
              <a:spcAft>
                <a:spcPts val="600"/>
              </a:spcAft>
            </a:pPr>
            <a:r>
              <a:rPr lang="en-US" sz="2400" dirty="0"/>
              <a:t>Be able to write simple python code to fill in metadata and send it to Coscine</a:t>
            </a:r>
          </a:p>
          <a:p>
            <a:pPr>
              <a:spcAft>
                <a:spcPts val="600"/>
              </a:spcAft>
            </a:pPr>
            <a:r>
              <a:rPr lang="en-US" sz="2400" dirty="0"/>
              <a:t>Be able to write a Python script </a:t>
            </a:r>
          </a:p>
          <a:p>
            <a:pPr lvl="1">
              <a:spcAft>
                <a:spcPts val="600"/>
              </a:spcAft>
            </a:pPr>
            <a:r>
              <a:rPr lang="en-US" sz="2200" dirty="0"/>
              <a:t>That automatically extracts metadata from a file</a:t>
            </a:r>
          </a:p>
          <a:p>
            <a:pPr lvl="1">
              <a:spcAft>
                <a:spcPts val="600"/>
              </a:spcAft>
            </a:pPr>
            <a:r>
              <a:rPr lang="en-US" sz="2200" dirty="0"/>
              <a:t>Fills in the metadata form</a:t>
            </a:r>
          </a:p>
          <a:p>
            <a:pPr lvl="1">
              <a:spcAft>
                <a:spcPts val="600"/>
              </a:spcAft>
            </a:pPr>
            <a:r>
              <a:rPr lang="en-US" sz="2200" dirty="0"/>
              <a:t>Send the file and the metadata to Coscine</a:t>
            </a:r>
          </a:p>
        </p:txBody>
      </p:sp>
      <p:grpSp>
        <p:nvGrpSpPr>
          <p:cNvPr id="45" name="Group 44">
            <a:extLst>
              <a:ext uri="{FF2B5EF4-FFF2-40B4-BE49-F238E27FC236}">
                <a16:creationId xmlns:a16="http://schemas.microsoft.com/office/drawing/2014/main" id="{0C58B2EB-93C3-9D35-E701-6787BDBC84C6}"/>
              </a:ext>
            </a:extLst>
          </p:cNvPr>
          <p:cNvGrpSpPr/>
          <p:nvPr/>
        </p:nvGrpSpPr>
        <p:grpSpPr>
          <a:xfrm>
            <a:off x="2262705" y="3805592"/>
            <a:ext cx="6772608" cy="2399238"/>
            <a:chOff x="1165425" y="3891560"/>
            <a:chExt cx="6772608" cy="2399238"/>
          </a:xfrm>
        </p:grpSpPr>
        <p:grpSp>
          <p:nvGrpSpPr>
            <p:cNvPr id="44" name="Group 43">
              <a:extLst>
                <a:ext uri="{FF2B5EF4-FFF2-40B4-BE49-F238E27FC236}">
                  <a16:creationId xmlns:a16="http://schemas.microsoft.com/office/drawing/2014/main" id="{770F5D89-0EC3-3557-3A9D-0AC13C772ACE}"/>
                </a:ext>
              </a:extLst>
            </p:cNvPr>
            <p:cNvGrpSpPr/>
            <p:nvPr/>
          </p:nvGrpSpPr>
          <p:grpSpPr>
            <a:xfrm>
              <a:off x="1165425" y="3891560"/>
              <a:ext cx="6772608" cy="1828274"/>
              <a:chOff x="1170073" y="3945489"/>
              <a:chExt cx="6772608" cy="1828274"/>
            </a:xfrm>
          </p:grpSpPr>
          <p:pic>
            <p:nvPicPr>
              <p:cNvPr id="5" name="Picture 4" descr="Logo, company name&#10;&#10;Description automatically generated">
                <a:extLst>
                  <a:ext uri="{FF2B5EF4-FFF2-40B4-BE49-F238E27FC236}">
                    <a16:creationId xmlns:a16="http://schemas.microsoft.com/office/drawing/2014/main" id="{504E75F9-0527-DBD0-33BA-85F1077FD72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20906"/>
              <a:stretch/>
            </p:blipFill>
            <p:spPr>
              <a:xfrm>
                <a:off x="5831792" y="4477138"/>
                <a:ext cx="2110889" cy="1296625"/>
              </a:xfrm>
              <a:prstGeom prst="rect">
                <a:avLst/>
              </a:prstGeom>
            </p:spPr>
          </p:pic>
          <p:sp>
            <p:nvSpPr>
              <p:cNvPr id="23" name="TextBox 22">
                <a:extLst>
                  <a:ext uri="{FF2B5EF4-FFF2-40B4-BE49-F238E27FC236}">
                    <a16:creationId xmlns:a16="http://schemas.microsoft.com/office/drawing/2014/main" id="{E43CE592-FAD5-4EAE-E79C-315F83BB58BE}"/>
                  </a:ext>
                </a:extLst>
              </p:cNvPr>
              <p:cNvSpPr txBox="1"/>
              <p:nvPr/>
            </p:nvSpPr>
            <p:spPr>
              <a:xfrm rot="21374040">
                <a:off x="1170073" y="5280229"/>
                <a:ext cx="2028092" cy="369332"/>
              </a:xfrm>
              <a:prstGeom prst="rect">
                <a:avLst/>
              </a:prstGeom>
              <a:noFill/>
            </p:spPr>
            <p:txBody>
              <a:bodyPr wrap="square" rtlCol="0">
                <a:spAutoFit/>
              </a:bodyPr>
              <a:lstStyle/>
              <a:p>
                <a:r>
                  <a:rPr lang="de-DE" dirty="0"/>
                  <a:t>(</a:t>
                </a:r>
                <a:r>
                  <a:rPr lang="de-DE" dirty="0" err="1"/>
                  <a:t>Meta</a:t>
                </a:r>
                <a:r>
                  <a:rPr lang="de-DE" dirty="0"/>
                  <a:t>)Data</a:t>
                </a:r>
                <a:endParaRPr lang="en-US" dirty="0"/>
              </a:p>
            </p:txBody>
          </p:sp>
          <p:pic>
            <p:nvPicPr>
              <p:cNvPr id="30" name="Graphic 29" descr="Programmer female outline">
                <a:extLst>
                  <a:ext uri="{FF2B5EF4-FFF2-40B4-BE49-F238E27FC236}">
                    <a16:creationId xmlns:a16="http://schemas.microsoft.com/office/drawing/2014/main" id="{CDB65F32-F70A-B21E-B5E8-54247CD37F3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1833" y="3945489"/>
                <a:ext cx="1242493" cy="1242493"/>
              </a:xfrm>
              <a:prstGeom prst="rect">
                <a:avLst/>
              </a:prstGeom>
            </p:spPr>
          </p:pic>
          <p:sp>
            <p:nvSpPr>
              <p:cNvPr id="32" name="Freeform 7">
                <a:extLst>
                  <a:ext uri="{FF2B5EF4-FFF2-40B4-BE49-F238E27FC236}">
                    <a16:creationId xmlns:a16="http://schemas.microsoft.com/office/drawing/2014/main" id="{D0DB9778-6CCC-4E7E-EF80-1AAE8DF71C76}"/>
                  </a:ext>
                </a:extLst>
              </p:cNvPr>
              <p:cNvSpPr/>
              <p:nvPr/>
            </p:nvSpPr>
            <p:spPr>
              <a:xfrm>
                <a:off x="3341619" y="5304579"/>
                <a:ext cx="2110889" cy="153646"/>
              </a:xfrm>
              <a:custGeom>
                <a:avLst/>
                <a:gdLst>
                  <a:gd name="csX0" fmla="*/ 0 w 2110889"/>
                  <a:gd name="csY0" fmla="*/ 150852 h 153646"/>
                  <a:gd name="csX1" fmla="*/ 976401 w 2110889"/>
                  <a:gd name="csY1" fmla="*/ 2 h 153646"/>
                  <a:gd name="csX2" fmla="*/ 2110889 w 2110889"/>
                  <a:gd name="csY2" fmla="*/ 153646 h 153646"/>
                  <a:gd name="csX3" fmla="*/ 2110889 w 2110889"/>
                  <a:gd name="csY3" fmla="*/ 153646 h 153646"/>
                </a:gdLst>
                <a:ahLst/>
                <a:cxnLst>
                  <a:cxn ang="0">
                    <a:pos x="csX0" y="csY0"/>
                  </a:cxn>
                  <a:cxn ang="0">
                    <a:pos x="csX1" y="csY1"/>
                  </a:cxn>
                  <a:cxn ang="0">
                    <a:pos x="csX2" y="csY2"/>
                  </a:cxn>
                  <a:cxn ang="0">
                    <a:pos x="csX3" y="csY3"/>
                  </a:cxn>
                </a:cxnLst>
                <a:rect l="l" t="t" r="r" b="b"/>
                <a:pathLst>
                  <a:path w="2110889" h="153646" fill="none" extrusionOk="0">
                    <a:moveTo>
                      <a:pt x="0" y="150852"/>
                    </a:moveTo>
                    <a:cubicBezTo>
                      <a:pt x="382603" y="50500"/>
                      <a:pt x="674043" y="9909"/>
                      <a:pt x="976401" y="2"/>
                    </a:cubicBezTo>
                    <a:cubicBezTo>
                      <a:pt x="1328216" y="468"/>
                      <a:pt x="2110889" y="153646"/>
                      <a:pt x="2110889" y="153646"/>
                    </a:cubicBezTo>
                    <a:lnTo>
                      <a:pt x="2110889" y="153646"/>
                    </a:lnTo>
                  </a:path>
                  <a:path w="2110889" h="153646" stroke="0" extrusionOk="0">
                    <a:moveTo>
                      <a:pt x="0" y="150852"/>
                    </a:moveTo>
                    <a:cubicBezTo>
                      <a:pt x="315874" y="51154"/>
                      <a:pt x="563036" y="12356"/>
                      <a:pt x="976401" y="2"/>
                    </a:cubicBezTo>
                    <a:cubicBezTo>
                      <a:pt x="1328216" y="467"/>
                      <a:pt x="2110889" y="153647"/>
                      <a:pt x="2110889" y="153646"/>
                    </a:cubicBezTo>
                    <a:lnTo>
                      <a:pt x="2110889" y="153646"/>
                    </a:lnTo>
                  </a:path>
                </a:pathLst>
              </a:custGeom>
              <a:ln w="50800">
                <a:solidFill>
                  <a:srgbClr val="999999"/>
                </a:solidFill>
                <a:headEnd type="none" w="lg" len="lg"/>
                <a:tailEnd type="triangle" w="lg" len="lg"/>
                <a:extLst>
                  <a:ext uri="{C807C97D-BFC1-408E-A445-0C87EB9F89A2}">
                    <ask:lineSketchStyleProps xmlns:ask="http://schemas.microsoft.com/office/drawing/2018/sketchyshapes" sd="2899932468">
                      <a:custGeom>
                        <a:avLst/>
                        <a:gdLst>
                          <a:gd name="connsiteX0" fmla="*/ 0 w 1515101"/>
                          <a:gd name="connsiteY0" fmla="*/ 360426 h 367100"/>
                          <a:gd name="connsiteX1" fmla="*/ 700817 w 1515101"/>
                          <a:gd name="connsiteY1" fmla="*/ 5 h 367100"/>
                          <a:gd name="connsiteX2" fmla="*/ 1515101 w 1515101"/>
                          <a:gd name="connsiteY2" fmla="*/ 367100 h 367100"/>
                          <a:gd name="connsiteX3" fmla="*/ 1515101 w 1515101"/>
                          <a:gd name="connsiteY3" fmla="*/ 367100 h 367100"/>
                        </a:gdLst>
                        <a:ahLst/>
                        <a:cxnLst>
                          <a:cxn ang="0">
                            <a:pos x="connsiteX0" y="connsiteY0"/>
                          </a:cxn>
                          <a:cxn ang="0">
                            <a:pos x="connsiteX1" y="connsiteY1"/>
                          </a:cxn>
                          <a:cxn ang="0">
                            <a:pos x="connsiteX2" y="connsiteY2"/>
                          </a:cxn>
                          <a:cxn ang="0">
                            <a:pos x="connsiteX3" y="connsiteY3"/>
                          </a:cxn>
                        </a:cxnLst>
                        <a:rect l="l" t="t" r="r" b="b"/>
                        <a:pathLst>
                          <a:path w="1515101" h="367100">
                            <a:moveTo>
                              <a:pt x="0" y="360426"/>
                            </a:moveTo>
                            <a:cubicBezTo>
                              <a:pt x="224150" y="179659"/>
                              <a:pt x="448300" y="-1107"/>
                              <a:pt x="700817" y="5"/>
                            </a:cubicBezTo>
                            <a:cubicBezTo>
                              <a:pt x="953334" y="1117"/>
                              <a:pt x="1515101" y="367100"/>
                              <a:pt x="1515101" y="367100"/>
                            </a:cubicBezTo>
                            <a:lnTo>
                              <a:pt x="1515101" y="367100"/>
                            </a:lnTo>
                          </a:path>
                        </a:pathLst>
                      </a:custGeom>
                      <ask:type>
                        <ask:lineSketchFreehan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solidFill>
                    <a:schemeClr val="tx1"/>
                  </a:solidFill>
                </a:endParaRPr>
              </a:p>
            </p:txBody>
          </p:sp>
        </p:grpSp>
        <p:grpSp>
          <p:nvGrpSpPr>
            <p:cNvPr id="40" name="Graphic 37" descr="Usb Stick outline">
              <a:extLst>
                <a:ext uri="{FF2B5EF4-FFF2-40B4-BE49-F238E27FC236}">
                  <a16:creationId xmlns:a16="http://schemas.microsoft.com/office/drawing/2014/main" id="{E9AD65CB-8FF8-AFCB-6C77-1664C93499FC}"/>
                </a:ext>
              </a:extLst>
            </p:cNvPr>
            <p:cNvGrpSpPr/>
            <p:nvPr/>
          </p:nvGrpSpPr>
          <p:grpSpPr>
            <a:xfrm rot="2487430">
              <a:off x="1200344" y="4625651"/>
              <a:ext cx="1665147" cy="1665147"/>
              <a:chOff x="1200344" y="4625651"/>
              <a:chExt cx="1665147" cy="1665147"/>
            </a:xfrm>
            <a:solidFill>
              <a:srgbClr val="56AB27"/>
            </a:solidFill>
          </p:grpSpPr>
          <p:sp>
            <p:nvSpPr>
              <p:cNvPr id="41" name="Freeform: Shape 40">
                <a:extLst>
                  <a:ext uri="{FF2B5EF4-FFF2-40B4-BE49-F238E27FC236}">
                    <a16:creationId xmlns:a16="http://schemas.microsoft.com/office/drawing/2014/main" id="{61CC6C07-4A9F-E16C-8517-CD0E1BA09E42}"/>
                  </a:ext>
                </a:extLst>
              </p:cNvPr>
              <p:cNvSpPr/>
              <p:nvPr/>
            </p:nvSpPr>
            <p:spPr>
              <a:xfrm>
                <a:off x="1200344" y="4625651"/>
                <a:ext cx="1665147" cy="1665147"/>
              </a:xfrm>
              <a:custGeom>
                <a:avLst/>
                <a:gdLst>
                  <a:gd name="connsiteX0" fmla="*/ 1665148 w 1665147"/>
                  <a:gd name="connsiteY0" fmla="*/ 367588 h 1665147"/>
                  <a:gd name="connsiteX1" fmla="*/ 1297560 w 1665147"/>
                  <a:gd name="connsiteY1" fmla="*/ 0 h 1665147"/>
                  <a:gd name="connsiteX2" fmla="*/ 980091 w 1665147"/>
                  <a:gd name="connsiteY2" fmla="*/ 317469 h 1665147"/>
                  <a:gd name="connsiteX3" fmla="*/ 896536 w 1665147"/>
                  <a:gd name="connsiteY3" fmla="*/ 233913 h 1665147"/>
                  <a:gd name="connsiteX4" fmla="*/ 27685 w 1665147"/>
                  <a:gd name="connsiteY4" fmla="*/ 1102787 h 1665147"/>
                  <a:gd name="connsiteX5" fmla="*/ 27683 w 1665147"/>
                  <a:gd name="connsiteY5" fmla="*/ 1236460 h 1665147"/>
                  <a:gd name="connsiteX6" fmla="*/ 27685 w 1665147"/>
                  <a:gd name="connsiteY6" fmla="*/ 1236462 h 1665147"/>
                  <a:gd name="connsiteX7" fmla="*/ 428686 w 1665147"/>
                  <a:gd name="connsiteY7" fmla="*/ 1637462 h 1665147"/>
                  <a:gd name="connsiteX8" fmla="*/ 562358 w 1665147"/>
                  <a:gd name="connsiteY8" fmla="*/ 1637465 h 1665147"/>
                  <a:gd name="connsiteX9" fmla="*/ 562361 w 1665147"/>
                  <a:gd name="connsiteY9" fmla="*/ 1637462 h 1665147"/>
                  <a:gd name="connsiteX10" fmla="*/ 1431235 w 1665147"/>
                  <a:gd name="connsiteY10" fmla="*/ 768612 h 1665147"/>
                  <a:gd name="connsiteX11" fmla="*/ 1347679 w 1665147"/>
                  <a:gd name="connsiteY11" fmla="*/ 685056 h 1665147"/>
                  <a:gd name="connsiteX12" fmla="*/ 1297560 w 1665147"/>
                  <a:gd name="connsiteY12" fmla="*/ 66826 h 1665147"/>
                  <a:gd name="connsiteX13" fmla="*/ 1598322 w 1665147"/>
                  <a:gd name="connsiteY13" fmla="*/ 367588 h 1665147"/>
                  <a:gd name="connsiteX14" fmla="*/ 1314267 w 1665147"/>
                  <a:gd name="connsiteY14" fmla="*/ 651644 h 1665147"/>
                  <a:gd name="connsiteX15" fmla="*/ 1013504 w 1665147"/>
                  <a:gd name="connsiteY15" fmla="*/ 350881 h 1665147"/>
                  <a:gd name="connsiteX16" fmla="*/ 528948 w 1665147"/>
                  <a:gd name="connsiteY16" fmla="*/ 1604050 h 1665147"/>
                  <a:gd name="connsiteX17" fmla="*/ 462113 w 1665147"/>
                  <a:gd name="connsiteY17" fmla="*/ 1604064 h 1665147"/>
                  <a:gd name="connsiteX18" fmla="*/ 462099 w 1665147"/>
                  <a:gd name="connsiteY18" fmla="*/ 1604050 h 1665147"/>
                  <a:gd name="connsiteX19" fmla="*/ 61098 w 1665147"/>
                  <a:gd name="connsiteY19" fmla="*/ 1203096 h 1665147"/>
                  <a:gd name="connsiteX20" fmla="*/ 61084 w 1665147"/>
                  <a:gd name="connsiteY20" fmla="*/ 1136261 h 1665147"/>
                  <a:gd name="connsiteX21" fmla="*/ 61098 w 1665147"/>
                  <a:gd name="connsiteY21" fmla="*/ 1136247 h 1665147"/>
                  <a:gd name="connsiteX22" fmla="*/ 896536 w 1665147"/>
                  <a:gd name="connsiteY22" fmla="*/ 300762 h 1665147"/>
                  <a:gd name="connsiteX23" fmla="*/ 1364409 w 1665147"/>
                  <a:gd name="connsiteY23" fmla="*/ 768636 h 1665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65147" h="1665147">
                    <a:moveTo>
                      <a:pt x="1665148" y="367588"/>
                    </a:moveTo>
                    <a:lnTo>
                      <a:pt x="1297560" y="0"/>
                    </a:lnTo>
                    <a:lnTo>
                      <a:pt x="980091" y="317469"/>
                    </a:lnTo>
                    <a:lnTo>
                      <a:pt x="896536" y="233913"/>
                    </a:lnTo>
                    <a:lnTo>
                      <a:pt x="27685" y="1102787"/>
                    </a:lnTo>
                    <a:cubicBezTo>
                      <a:pt x="-9227" y="1139699"/>
                      <a:pt x="-9229" y="1199545"/>
                      <a:pt x="27683" y="1236460"/>
                    </a:cubicBezTo>
                    <a:cubicBezTo>
                      <a:pt x="27683" y="1236460"/>
                      <a:pt x="27685" y="1236462"/>
                      <a:pt x="27685" y="1236462"/>
                    </a:cubicBezTo>
                    <a:lnTo>
                      <a:pt x="428686" y="1637462"/>
                    </a:lnTo>
                    <a:cubicBezTo>
                      <a:pt x="465598" y="1674375"/>
                      <a:pt x="525444" y="1674377"/>
                      <a:pt x="562358" y="1637465"/>
                    </a:cubicBezTo>
                    <a:cubicBezTo>
                      <a:pt x="562358" y="1637465"/>
                      <a:pt x="562361" y="1637462"/>
                      <a:pt x="562361" y="1637462"/>
                    </a:cubicBezTo>
                    <a:lnTo>
                      <a:pt x="1431235" y="768612"/>
                    </a:lnTo>
                    <a:lnTo>
                      <a:pt x="1347679" y="685056"/>
                    </a:lnTo>
                    <a:close/>
                    <a:moveTo>
                      <a:pt x="1297560" y="66826"/>
                    </a:moveTo>
                    <a:lnTo>
                      <a:pt x="1598322" y="367588"/>
                    </a:lnTo>
                    <a:lnTo>
                      <a:pt x="1314267" y="651644"/>
                    </a:lnTo>
                    <a:lnTo>
                      <a:pt x="1013504" y="350881"/>
                    </a:lnTo>
                    <a:close/>
                    <a:moveTo>
                      <a:pt x="528948" y="1604050"/>
                    </a:moveTo>
                    <a:cubicBezTo>
                      <a:pt x="510495" y="1622509"/>
                      <a:pt x="480573" y="1622516"/>
                      <a:pt x="462113" y="1604064"/>
                    </a:cubicBezTo>
                    <a:cubicBezTo>
                      <a:pt x="462108" y="1604059"/>
                      <a:pt x="462104" y="1604054"/>
                      <a:pt x="462099" y="1604050"/>
                    </a:cubicBezTo>
                    <a:lnTo>
                      <a:pt x="61098" y="1203096"/>
                    </a:lnTo>
                    <a:cubicBezTo>
                      <a:pt x="42639" y="1184644"/>
                      <a:pt x="42631" y="1154721"/>
                      <a:pt x="61084" y="1136261"/>
                    </a:cubicBezTo>
                    <a:cubicBezTo>
                      <a:pt x="61089" y="1136257"/>
                      <a:pt x="61094" y="1136252"/>
                      <a:pt x="61098" y="1136247"/>
                    </a:cubicBezTo>
                    <a:lnTo>
                      <a:pt x="896536" y="300762"/>
                    </a:lnTo>
                    <a:lnTo>
                      <a:pt x="1364409" y="768636"/>
                    </a:lnTo>
                    <a:close/>
                  </a:path>
                </a:pathLst>
              </a:custGeom>
              <a:solidFill>
                <a:srgbClr val="56AB27"/>
              </a:solidFill>
              <a:ln w="23614" cap="flat">
                <a:solidFill>
                  <a:srgbClr val="56AB27"/>
                </a:solid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3984F985-7C12-140F-96FE-0891CA712CA0}"/>
                  </a:ext>
                </a:extLst>
              </p:cNvPr>
              <p:cNvSpPr/>
              <p:nvPr/>
            </p:nvSpPr>
            <p:spPr>
              <a:xfrm rot="-2700061">
                <a:off x="2392676" y="4870312"/>
                <a:ext cx="94519" cy="94519"/>
              </a:xfrm>
              <a:custGeom>
                <a:avLst/>
                <a:gdLst>
                  <a:gd name="connsiteX0" fmla="*/ 0 w 94519"/>
                  <a:gd name="connsiteY0" fmla="*/ 0 h 94519"/>
                  <a:gd name="connsiteX1" fmla="*/ 94520 w 94519"/>
                  <a:gd name="connsiteY1" fmla="*/ 0 h 94519"/>
                  <a:gd name="connsiteX2" fmla="*/ 94520 w 94519"/>
                  <a:gd name="connsiteY2" fmla="*/ 94520 h 94519"/>
                  <a:gd name="connsiteX3" fmla="*/ 0 w 94519"/>
                  <a:gd name="connsiteY3" fmla="*/ 94520 h 94519"/>
                </a:gdLst>
                <a:ahLst/>
                <a:cxnLst>
                  <a:cxn ang="0">
                    <a:pos x="connsiteX0" y="connsiteY0"/>
                  </a:cxn>
                  <a:cxn ang="0">
                    <a:pos x="connsiteX1" y="connsiteY1"/>
                  </a:cxn>
                  <a:cxn ang="0">
                    <a:pos x="connsiteX2" y="connsiteY2"/>
                  </a:cxn>
                  <a:cxn ang="0">
                    <a:pos x="connsiteX3" y="connsiteY3"/>
                  </a:cxn>
                </a:cxnLst>
                <a:rect l="l" t="t" r="r" b="b"/>
                <a:pathLst>
                  <a:path w="94519" h="94519">
                    <a:moveTo>
                      <a:pt x="0" y="0"/>
                    </a:moveTo>
                    <a:lnTo>
                      <a:pt x="94520" y="0"/>
                    </a:lnTo>
                    <a:lnTo>
                      <a:pt x="94520" y="94520"/>
                    </a:lnTo>
                    <a:lnTo>
                      <a:pt x="0" y="94520"/>
                    </a:lnTo>
                    <a:close/>
                  </a:path>
                </a:pathLst>
              </a:custGeom>
              <a:solidFill>
                <a:srgbClr val="56AB27"/>
              </a:solidFill>
              <a:ln w="23614" cap="flat">
                <a:solidFill>
                  <a:srgbClr val="56AB27"/>
                </a:solid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957DD7C7-7193-BDAE-7428-72FE575EE432}"/>
                  </a:ext>
                </a:extLst>
              </p:cNvPr>
              <p:cNvSpPr/>
              <p:nvPr/>
            </p:nvSpPr>
            <p:spPr>
              <a:xfrm rot="-2700000">
                <a:off x="2526327" y="5003949"/>
                <a:ext cx="94519" cy="94519"/>
              </a:xfrm>
              <a:custGeom>
                <a:avLst/>
                <a:gdLst>
                  <a:gd name="connsiteX0" fmla="*/ 0 w 94519"/>
                  <a:gd name="connsiteY0" fmla="*/ 0 h 94519"/>
                  <a:gd name="connsiteX1" fmla="*/ 94520 w 94519"/>
                  <a:gd name="connsiteY1" fmla="*/ 0 h 94519"/>
                  <a:gd name="connsiteX2" fmla="*/ 94520 w 94519"/>
                  <a:gd name="connsiteY2" fmla="*/ 94520 h 94519"/>
                  <a:gd name="connsiteX3" fmla="*/ 0 w 94519"/>
                  <a:gd name="connsiteY3" fmla="*/ 94520 h 94519"/>
                </a:gdLst>
                <a:ahLst/>
                <a:cxnLst>
                  <a:cxn ang="0">
                    <a:pos x="connsiteX0" y="connsiteY0"/>
                  </a:cxn>
                  <a:cxn ang="0">
                    <a:pos x="connsiteX1" y="connsiteY1"/>
                  </a:cxn>
                  <a:cxn ang="0">
                    <a:pos x="connsiteX2" y="connsiteY2"/>
                  </a:cxn>
                  <a:cxn ang="0">
                    <a:pos x="connsiteX3" y="connsiteY3"/>
                  </a:cxn>
                </a:cxnLst>
                <a:rect l="l" t="t" r="r" b="b"/>
                <a:pathLst>
                  <a:path w="94519" h="94519">
                    <a:moveTo>
                      <a:pt x="0" y="0"/>
                    </a:moveTo>
                    <a:lnTo>
                      <a:pt x="94520" y="0"/>
                    </a:lnTo>
                    <a:lnTo>
                      <a:pt x="94520" y="94520"/>
                    </a:lnTo>
                    <a:lnTo>
                      <a:pt x="0" y="94520"/>
                    </a:lnTo>
                    <a:close/>
                  </a:path>
                </a:pathLst>
              </a:custGeom>
              <a:solidFill>
                <a:srgbClr val="56AB27"/>
              </a:solidFill>
              <a:ln w="23614" cap="flat">
                <a:solidFill>
                  <a:srgbClr val="56AB27"/>
                </a:solidFill>
                <a:prstDash val="solid"/>
                <a:miter/>
              </a:ln>
            </p:spPr>
            <p:txBody>
              <a:bodyPr rtlCol="0" anchor="ctr"/>
              <a:lstStyle/>
              <a:p>
                <a:endParaRPr lang="en-US"/>
              </a:p>
            </p:txBody>
          </p:sp>
        </p:grpSp>
        <p:sp>
          <p:nvSpPr>
            <p:cNvPr id="39" name="TextBox 38">
              <a:extLst>
                <a:ext uri="{FF2B5EF4-FFF2-40B4-BE49-F238E27FC236}">
                  <a16:creationId xmlns:a16="http://schemas.microsoft.com/office/drawing/2014/main" id="{4F54A377-E47A-4FB7-6229-072469DFB043}"/>
                </a:ext>
              </a:extLst>
            </p:cNvPr>
            <p:cNvSpPr txBox="1"/>
            <p:nvPr/>
          </p:nvSpPr>
          <p:spPr>
            <a:xfrm>
              <a:off x="3691131" y="5458224"/>
              <a:ext cx="1721196" cy="523220"/>
            </a:xfrm>
            <a:prstGeom prst="rect">
              <a:avLst/>
            </a:prstGeom>
            <a:noFill/>
          </p:spPr>
          <p:txBody>
            <a:bodyPr wrap="square" rtlCol="0">
              <a:spAutoFit/>
            </a:bodyPr>
            <a:lstStyle/>
            <a:p>
              <a:r>
                <a:rPr lang="de-DE" sz="2800" dirty="0">
                  <a:latin typeface="Calibri" panose="020F0502020204030204" pitchFamily="34" charset="0"/>
                  <a:cs typeface="Calibri" panose="020F0502020204030204" pitchFamily="34" charset="0"/>
                </a:rPr>
                <a:t>Python</a:t>
              </a:r>
              <a:endParaRPr lang="en-DE" sz="28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887554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phic 7" descr="Whiteboard on a stand">
            <a:extLst>
              <a:ext uri="{FF2B5EF4-FFF2-40B4-BE49-F238E27FC236}">
                <a16:creationId xmlns:a16="http://schemas.microsoft.com/office/drawing/2014/main" id="{E7462BDC-64AB-021F-2DDD-34DFA729C9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8993" y="1274744"/>
            <a:ext cx="7074014" cy="4308512"/>
          </a:xfrm>
          <a:prstGeom prst="rect">
            <a:avLst/>
          </a:prstGeom>
        </p:spPr>
      </p:pic>
      <p:sp>
        <p:nvSpPr>
          <p:cNvPr id="7" name="Chart Placeholder 6">
            <a:extLst>
              <a:ext uri="{FF2B5EF4-FFF2-40B4-BE49-F238E27FC236}">
                <a16:creationId xmlns:a16="http://schemas.microsoft.com/office/drawing/2014/main" id="{DA46F493-E789-F0ED-B36B-FF90970CBD30}"/>
              </a:ext>
            </a:extLst>
          </p:cNvPr>
          <p:cNvSpPr>
            <a:spLocks noGrp="1"/>
          </p:cNvSpPr>
          <p:nvPr>
            <p:ph type="chart" sz="quarter" idx="13"/>
          </p:nvPr>
        </p:nvSpPr>
        <p:spPr>
          <a:xfrm>
            <a:off x="3670826" y="1612900"/>
            <a:ext cx="4567890" cy="3632200"/>
          </a:xfrm>
        </p:spPr>
        <p:txBody>
          <a:bodyPr/>
          <a:lstStyle/>
          <a:p>
            <a:r>
              <a:rPr lang="de-DE" sz="2800" dirty="0"/>
              <a:t>Basic </a:t>
            </a:r>
            <a:r>
              <a:rPr lang="de-DE" sz="2800" dirty="0" err="1"/>
              <a:t>introduction</a:t>
            </a:r>
            <a:endParaRPr lang="de-DE" sz="2800" dirty="0"/>
          </a:p>
          <a:p>
            <a:r>
              <a:rPr lang="de-DE" sz="2800" dirty="0"/>
              <a:t>Python Coverage</a:t>
            </a:r>
          </a:p>
          <a:p>
            <a:r>
              <a:rPr lang="de-DE" sz="2800" dirty="0"/>
              <a:t>Live Coding</a:t>
            </a:r>
          </a:p>
          <a:p>
            <a:endParaRPr lang="de-DE" sz="2800" dirty="0"/>
          </a:p>
          <a:p>
            <a:endParaRPr lang="en-US" sz="2800" dirty="0"/>
          </a:p>
        </p:txBody>
      </p:sp>
      <p:sp>
        <p:nvSpPr>
          <p:cNvPr id="2" name="Title 1">
            <a:extLst>
              <a:ext uri="{FF2B5EF4-FFF2-40B4-BE49-F238E27FC236}">
                <a16:creationId xmlns:a16="http://schemas.microsoft.com/office/drawing/2014/main" id="{E06B5617-DB20-8D73-6191-4D4D1429A71B}"/>
              </a:ext>
            </a:extLst>
          </p:cNvPr>
          <p:cNvSpPr>
            <a:spLocks noGrp="1"/>
          </p:cNvSpPr>
          <p:nvPr>
            <p:ph type="title"/>
          </p:nvPr>
        </p:nvSpPr>
        <p:spPr>
          <a:xfrm>
            <a:off x="384000" y="201600"/>
            <a:ext cx="11484000" cy="543600"/>
          </a:xfrm>
        </p:spPr>
        <p:txBody>
          <a:bodyPr/>
          <a:lstStyle/>
          <a:p>
            <a:r>
              <a:rPr lang="en-US" sz="4000" dirty="0"/>
              <a:t>Expectations</a:t>
            </a:r>
          </a:p>
        </p:txBody>
      </p:sp>
      <p:pic>
        <p:nvPicPr>
          <p:cNvPr id="6" name="Graphic 5" descr="A female pointing forward">
            <a:extLst>
              <a:ext uri="{FF2B5EF4-FFF2-40B4-BE49-F238E27FC236}">
                <a16:creationId xmlns:a16="http://schemas.microsoft.com/office/drawing/2014/main" id="{236886C9-938C-D410-E543-F1327F00CA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3771" y="2344665"/>
            <a:ext cx="2034932" cy="3729215"/>
          </a:xfrm>
          <a:prstGeom prst="rect">
            <a:avLst/>
          </a:prstGeom>
        </p:spPr>
      </p:pic>
      <p:grpSp>
        <p:nvGrpSpPr>
          <p:cNvPr id="21" name="Group 20">
            <a:extLst>
              <a:ext uri="{FF2B5EF4-FFF2-40B4-BE49-F238E27FC236}">
                <a16:creationId xmlns:a16="http://schemas.microsoft.com/office/drawing/2014/main" id="{BA108C36-F573-AE7D-2B88-56B133FAA000}"/>
              </a:ext>
            </a:extLst>
          </p:cNvPr>
          <p:cNvGrpSpPr/>
          <p:nvPr/>
        </p:nvGrpSpPr>
        <p:grpSpPr>
          <a:xfrm>
            <a:off x="952087" y="1708243"/>
            <a:ext cx="819150" cy="1272843"/>
            <a:chOff x="488773" y="1637661"/>
            <a:chExt cx="819150" cy="1272843"/>
          </a:xfrm>
        </p:grpSpPr>
        <p:pic>
          <p:nvPicPr>
            <p:cNvPr id="10" name="Graphic 9" descr="Female with bangs">
              <a:extLst>
                <a:ext uri="{FF2B5EF4-FFF2-40B4-BE49-F238E27FC236}">
                  <a16:creationId xmlns:a16="http://schemas.microsoft.com/office/drawing/2014/main" id="{D4AAB180-DC9F-098B-C75C-9E18A1CF4D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8773" y="1786554"/>
              <a:ext cx="819150" cy="1123950"/>
            </a:xfrm>
            <a:prstGeom prst="rect">
              <a:avLst/>
            </a:prstGeom>
          </p:spPr>
        </p:pic>
        <p:pic>
          <p:nvPicPr>
            <p:cNvPr id="12" name="Graphic 11" descr="A smiling woman">
              <a:extLst>
                <a:ext uri="{FF2B5EF4-FFF2-40B4-BE49-F238E27FC236}">
                  <a16:creationId xmlns:a16="http://schemas.microsoft.com/office/drawing/2014/main" id="{8E4F0B1C-3C4F-00F5-0227-8059753E4E8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77686" y="2076870"/>
              <a:ext cx="304800" cy="333375"/>
            </a:xfrm>
            <a:prstGeom prst="rect">
              <a:avLst/>
            </a:prstGeom>
          </p:spPr>
        </p:pic>
        <p:pic>
          <p:nvPicPr>
            <p:cNvPr id="16" name="Graphic 15" descr="Ribbon bowtie">
              <a:extLst>
                <a:ext uri="{FF2B5EF4-FFF2-40B4-BE49-F238E27FC236}">
                  <a16:creationId xmlns:a16="http://schemas.microsoft.com/office/drawing/2014/main" id="{6DF76D6F-07CF-06A4-C7F2-B34C22FC38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2428" y="1637661"/>
              <a:ext cx="611128" cy="500924"/>
            </a:xfrm>
            <a:prstGeom prst="rect">
              <a:avLst/>
            </a:prstGeom>
          </p:spPr>
        </p:pic>
        <p:pic>
          <p:nvPicPr>
            <p:cNvPr id="20" name="Graphic 19" descr="Thick eyeglasses">
              <a:extLst>
                <a:ext uri="{FF2B5EF4-FFF2-40B4-BE49-F238E27FC236}">
                  <a16:creationId xmlns:a16="http://schemas.microsoft.com/office/drawing/2014/main" id="{E7245902-F8C6-3A17-DD5E-28F2213F714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2564" y="2101230"/>
              <a:ext cx="638175" cy="219075"/>
            </a:xfrm>
            <a:prstGeom prst="rect">
              <a:avLst/>
            </a:prstGeom>
          </p:spPr>
        </p:pic>
      </p:grpSp>
    </p:spTree>
    <p:extLst>
      <p:ext uri="{BB962C8B-B14F-4D97-AF65-F5344CB8AC3E}">
        <p14:creationId xmlns:p14="http://schemas.microsoft.com/office/powerpoint/2010/main" val="3474902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256573-E39F-BDED-F141-A3FFFC707E09}"/>
              </a:ext>
            </a:extLst>
          </p:cNvPr>
          <p:cNvSpPr>
            <a:spLocks noGrp="1"/>
          </p:cNvSpPr>
          <p:nvPr>
            <p:ph type="title"/>
          </p:nvPr>
        </p:nvSpPr>
        <p:spPr/>
        <p:txBody>
          <a:bodyPr/>
          <a:lstStyle/>
          <a:p>
            <a:r>
              <a:rPr lang="en-US" sz="4000" dirty="0"/>
              <a:t>Interfacing with Coscine</a:t>
            </a:r>
          </a:p>
        </p:txBody>
      </p:sp>
      <p:sp>
        <p:nvSpPr>
          <p:cNvPr id="5" name="Can 4">
            <a:extLst>
              <a:ext uri="{FF2B5EF4-FFF2-40B4-BE49-F238E27FC236}">
                <a16:creationId xmlns:a16="http://schemas.microsoft.com/office/drawing/2014/main" id="{C91D235B-3E0C-B6E4-5CDD-36A5247F4DAC}"/>
              </a:ext>
            </a:extLst>
          </p:cNvPr>
          <p:cNvSpPr/>
          <p:nvPr/>
        </p:nvSpPr>
        <p:spPr>
          <a:xfrm>
            <a:off x="4900469" y="1163473"/>
            <a:ext cx="1377501" cy="1047466"/>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Coscine</a:t>
            </a:r>
          </a:p>
        </p:txBody>
      </p:sp>
      <p:grpSp>
        <p:nvGrpSpPr>
          <p:cNvPr id="45" name="Group 44">
            <a:extLst>
              <a:ext uri="{FF2B5EF4-FFF2-40B4-BE49-F238E27FC236}">
                <a16:creationId xmlns:a16="http://schemas.microsoft.com/office/drawing/2014/main" id="{F8226907-537A-83CE-3756-43D2A36F30D5}"/>
              </a:ext>
            </a:extLst>
          </p:cNvPr>
          <p:cNvGrpSpPr/>
          <p:nvPr/>
        </p:nvGrpSpPr>
        <p:grpSpPr>
          <a:xfrm>
            <a:off x="5589221" y="1495159"/>
            <a:ext cx="6278775" cy="2554944"/>
            <a:chOff x="5589225" y="1105589"/>
            <a:chExt cx="6278775" cy="2554944"/>
          </a:xfrm>
        </p:grpSpPr>
        <p:cxnSp>
          <p:nvCxnSpPr>
            <p:cNvPr id="19" name="Curved Connector 18">
              <a:extLst>
                <a:ext uri="{FF2B5EF4-FFF2-40B4-BE49-F238E27FC236}">
                  <a16:creationId xmlns:a16="http://schemas.microsoft.com/office/drawing/2014/main" id="{5ED2D2A0-8EB5-8C72-01F7-53AA3E623F78}"/>
                </a:ext>
              </a:extLst>
            </p:cNvPr>
            <p:cNvCxnSpPr>
              <a:cxnSpLocks/>
              <a:endCxn id="5" idx="3"/>
            </p:cNvCxnSpPr>
            <p:nvPr/>
          </p:nvCxnSpPr>
          <p:spPr>
            <a:xfrm rot="10800000">
              <a:off x="5589225" y="1821370"/>
              <a:ext cx="1297655" cy="1153845"/>
            </a:xfrm>
            <a:prstGeom prst="curvedConnector2">
              <a:avLst/>
            </a:prstGeom>
            <a:ln w="76200">
              <a:solidFill>
                <a:schemeClr val="accent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3FD36B49-C9F2-A887-587D-23930071A580}"/>
                </a:ext>
              </a:extLst>
            </p:cNvPr>
            <p:cNvGrpSpPr/>
            <p:nvPr/>
          </p:nvGrpSpPr>
          <p:grpSpPr>
            <a:xfrm>
              <a:off x="6886877" y="1105589"/>
              <a:ext cx="4981123" cy="2554944"/>
              <a:chOff x="6886877" y="1105589"/>
              <a:chExt cx="4981123" cy="2554944"/>
            </a:xfrm>
          </p:grpSpPr>
          <p:pic>
            <p:nvPicPr>
              <p:cNvPr id="18" name="Picture 17">
                <a:extLst>
                  <a:ext uri="{FF2B5EF4-FFF2-40B4-BE49-F238E27FC236}">
                    <a16:creationId xmlns:a16="http://schemas.microsoft.com/office/drawing/2014/main" id="{0E0CFA8C-77AD-3DE2-20AA-4EFDF3554760}"/>
                  </a:ext>
                </a:extLst>
              </p:cNvPr>
              <p:cNvPicPr>
                <a:picLocks noChangeAspect="1"/>
              </p:cNvPicPr>
              <p:nvPr/>
            </p:nvPicPr>
            <p:blipFill>
              <a:blip r:embed="rId3"/>
              <a:srcRect b="51847"/>
              <a:stretch/>
            </p:blipFill>
            <p:spPr>
              <a:xfrm>
                <a:off x="6886877" y="1486566"/>
                <a:ext cx="4981123" cy="2173967"/>
              </a:xfrm>
              <a:prstGeom prst="rect">
                <a:avLst/>
              </a:prstGeom>
            </p:spPr>
          </p:pic>
          <p:sp>
            <p:nvSpPr>
              <p:cNvPr id="33" name="TextBox 32">
                <a:extLst>
                  <a:ext uri="{FF2B5EF4-FFF2-40B4-BE49-F238E27FC236}">
                    <a16:creationId xmlns:a16="http://schemas.microsoft.com/office/drawing/2014/main" id="{7935353B-BBFE-42A8-2044-18412892EF1A}"/>
                  </a:ext>
                </a:extLst>
              </p:cNvPr>
              <p:cNvSpPr txBox="1"/>
              <p:nvPr/>
            </p:nvSpPr>
            <p:spPr>
              <a:xfrm>
                <a:off x="8838352" y="1105589"/>
                <a:ext cx="1078173" cy="369332"/>
              </a:xfrm>
              <a:prstGeom prst="rect">
                <a:avLst/>
              </a:prstGeom>
              <a:noFill/>
            </p:spPr>
            <p:txBody>
              <a:bodyPr wrap="square" rtlCol="0">
                <a:spAutoFit/>
              </a:bodyPr>
              <a:lstStyle/>
              <a:p>
                <a:r>
                  <a:rPr lang="en-US" dirty="0"/>
                  <a:t>Web UI</a:t>
                </a:r>
              </a:p>
            </p:txBody>
          </p:sp>
        </p:grpSp>
      </p:grpSp>
      <p:grpSp>
        <p:nvGrpSpPr>
          <p:cNvPr id="44" name="Group 43">
            <a:extLst>
              <a:ext uri="{FF2B5EF4-FFF2-40B4-BE49-F238E27FC236}">
                <a16:creationId xmlns:a16="http://schemas.microsoft.com/office/drawing/2014/main" id="{A3780CD4-7608-F417-2052-665D19E36AE9}"/>
              </a:ext>
            </a:extLst>
          </p:cNvPr>
          <p:cNvGrpSpPr/>
          <p:nvPr/>
        </p:nvGrpSpPr>
        <p:grpSpPr>
          <a:xfrm>
            <a:off x="5589220" y="2210939"/>
            <a:ext cx="5829421" cy="3678328"/>
            <a:chOff x="5513804" y="2210939"/>
            <a:chExt cx="5829421" cy="3678328"/>
          </a:xfrm>
        </p:grpSpPr>
        <p:cxnSp>
          <p:nvCxnSpPr>
            <p:cNvPr id="27" name="Curved Connector 26">
              <a:extLst>
                <a:ext uri="{FF2B5EF4-FFF2-40B4-BE49-F238E27FC236}">
                  <a16:creationId xmlns:a16="http://schemas.microsoft.com/office/drawing/2014/main" id="{89139338-AC9F-F0F2-FFF0-24AC28B250B1}"/>
                </a:ext>
              </a:extLst>
            </p:cNvPr>
            <p:cNvCxnSpPr>
              <a:cxnSpLocks/>
              <a:stCxn id="26" idx="1"/>
              <a:endCxn id="5" idx="3"/>
            </p:cNvCxnSpPr>
            <p:nvPr/>
          </p:nvCxnSpPr>
          <p:spPr>
            <a:xfrm rot="10800000">
              <a:off x="5513804" y="2210939"/>
              <a:ext cx="848298" cy="2554944"/>
            </a:xfrm>
            <a:prstGeom prst="curvedConnector2">
              <a:avLst/>
            </a:prstGeom>
            <a:ln w="76200">
              <a:solidFill>
                <a:schemeClr val="accent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07EBF488-5C70-BA67-63F1-25A8A6F59592}"/>
                </a:ext>
              </a:extLst>
            </p:cNvPr>
            <p:cNvGrpSpPr/>
            <p:nvPr/>
          </p:nvGrpSpPr>
          <p:grpSpPr>
            <a:xfrm>
              <a:off x="6362102" y="3303745"/>
              <a:ext cx="4981123" cy="2585522"/>
              <a:chOff x="6362102" y="3303745"/>
              <a:chExt cx="4981123" cy="2585522"/>
            </a:xfrm>
          </p:grpSpPr>
          <p:sp>
            <p:nvSpPr>
              <p:cNvPr id="26" name="TextBox 25">
                <a:extLst>
                  <a:ext uri="{FF2B5EF4-FFF2-40B4-BE49-F238E27FC236}">
                    <a16:creationId xmlns:a16="http://schemas.microsoft.com/office/drawing/2014/main" id="{F6DF9887-C834-DCFA-89A1-13EC586CACF7}"/>
                  </a:ext>
                </a:extLst>
              </p:cNvPr>
              <p:cNvSpPr txBox="1"/>
              <p:nvPr/>
            </p:nvSpPr>
            <p:spPr>
              <a:xfrm>
                <a:off x="6362102" y="3642498"/>
                <a:ext cx="4981123" cy="2246769"/>
              </a:xfrm>
              <a:prstGeom prst="rect">
                <a:avLst/>
              </a:prstGeom>
              <a:noFill/>
              <a:ln>
                <a:solidFill>
                  <a:schemeClr val="tx1"/>
                </a:solidFill>
              </a:ln>
            </p:spPr>
            <p:txBody>
              <a:bodyPr wrap="square" rtlCol="0">
                <a:spAutoFit/>
              </a:bodyPr>
              <a:lstStyle/>
              <a:p>
                <a:r>
                  <a:rPr lang="en-US" sz="1400" dirty="0">
                    <a:latin typeface="Courier New" panose="02070309020205020404" pitchFamily="49" charset="0"/>
                    <a:cs typeface="Courier New" panose="02070309020205020404" pitchFamily="49" charset="0"/>
                  </a:rPr>
                  <a:t>import </a:t>
                </a:r>
                <a:r>
                  <a:rPr lang="en-US" sz="1400" dirty="0" err="1">
                    <a:latin typeface="Courier New" panose="02070309020205020404" pitchFamily="49" charset="0"/>
                    <a:cs typeface="Courier New" panose="02070309020205020404" pitchFamily="49" charset="0"/>
                  </a:rPr>
                  <a:t>coscine</a:t>
                </a:r>
                <a:endParaRPr lang="en-US" sz="1400" dirty="0">
                  <a:latin typeface="Courier New" panose="02070309020205020404" pitchFamily="49" charset="0"/>
                  <a:cs typeface="Courier New" panose="02070309020205020404" pitchFamily="49" charset="0"/>
                </a:endParaRPr>
              </a:p>
              <a:p>
                <a:endParaRPr lang="en-US" sz="1400" dirty="0">
                  <a:latin typeface="Courier New" panose="02070309020205020404" pitchFamily="49" charset="0"/>
                  <a:cs typeface="Courier New" panose="02070309020205020404" pitchFamily="49" charset="0"/>
                </a:endParaRPr>
              </a:p>
              <a:p>
                <a:r>
                  <a:rPr lang="en-US" sz="1400" dirty="0" err="1">
                    <a:latin typeface="Courier New" panose="02070309020205020404" pitchFamily="49" charset="0"/>
                    <a:cs typeface="Courier New" panose="02070309020205020404" pitchFamily="49" charset="0"/>
                  </a:rPr>
                  <a:t>coscine_client</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coscine.ApiClient</a:t>
                </a:r>
                <a:r>
                  <a:rPr lang="en-US" sz="1400" dirty="0">
                    <a:latin typeface="Courier New" panose="02070309020205020404" pitchFamily="49" charset="0"/>
                    <a:cs typeface="Courier New" panose="02070309020205020404" pitchFamily="49" charset="0"/>
                  </a:rPr>
                  <a:t>(TOKEN)</a:t>
                </a:r>
              </a:p>
              <a:p>
                <a:endParaRPr lang="en-US" sz="1400" dirty="0">
                  <a:latin typeface="Courier New" panose="02070309020205020404" pitchFamily="49" charset="0"/>
                  <a:cs typeface="Courier New" panose="02070309020205020404" pitchFamily="49" charset="0"/>
                </a:endParaRP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project = </a:t>
                </a:r>
                <a:r>
                  <a:rPr lang="en-US" sz="1400" dirty="0" err="1">
                    <a:latin typeface="Courier New" panose="02070309020205020404" pitchFamily="49" charset="0"/>
                    <a:cs typeface="Courier New" panose="02070309020205020404" pitchFamily="49" charset="0"/>
                  </a:rPr>
                  <a:t>cos_client.project</a:t>
                </a:r>
                <a:r>
                  <a:rPr lang="en-US" sz="1400" dirty="0">
                    <a:latin typeface="Courier New" panose="02070309020205020404" pitchFamily="49" charset="0"/>
                    <a:cs typeface="Courier New" panose="02070309020205020404" pitchFamily="49" charset="0"/>
                  </a:rPr>
                  <a:t>(PROJECT_NAME)</a:t>
                </a:r>
              </a:p>
              <a:p>
                <a:r>
                  <a:rPr lang="en-US" sz="1400" dirty="0">
                    <a:latin typeface="Courier New" panose="02070309020205020404" pitchFamily="49" charset="0"/>
                    <a:cs typeface="Courier New" panose="02070309020205020404" pitchFamily="49" charset="0"/>
                  </a:rPr>
                  <a:t>resource = </a:t>
                </a:r>
                <a:r>
                  <a:rPr lang="en-US" sz="1400" dirty="0" err="1">
                    <a:latin typeface="Courier New" panose="02070309020205020404" pitchFamily="49" charset="0"/>
                    <a:cs typeface="Courier New" panose="02070309020205020404" pitchFamily="49" charset="0"/>
                  </a:rPr>
                  <a:t>project.resource</a:t>
                </a:r>
                <a:r>
                  <a:rPr lang="en-US" sz="1400" dirty="0">
                    <a:latin typeface="Courier New" panose="02070309020205020404" pitchFamily="49" charset="0"/>
                    <a:cs typeface="Courier New" panose="02070309020205020404" pitchFamily="49" charset="0"/>
                  </a:rPr>
                  <a:t>(RESOURCE_NAME)</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metadata = </a:t>
                </a:r>
                <a:r>
                  <a:rPr lang="en-US" sz="1400" dirty="0" err="1">
                    <a:latin typeface="Courier New" panose="02070309020205020404" pitchFamily="49" charset="0"/>
                    <a:cs typeface="Courier New" panose="02070309020205020404" pitchFamily="49" charset="0"/>
                  </a:rPr>
                  <a:t>resource.metadata_form</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metadata[key] = value</a:t>
                </a:r>
              </a:p>
            </p:txBody>
          </p:sp>
          <p:sp>
            <p:nvSpPr>
              <p:cNvPr id="36" name="TextBox 35">
                <a:extLst>
                  <a:ext uri="{FF2B5EF4-FFF2-40B4-BE49-F238E27FC236}">
                    <a16:creationId xmlns:a16="http://schemas.microsoft.com/office/drawing/2014/main" id="{07357177-867B-0A2B-8BD3-A077C39D4C6A}"/>
                  </a:ext>
                </a:extLst>
              </p:cNvPr>
              <p:cNvSpPr txBox="1"/>
              <p:nvPr/>
            </p:nvSpPr>
            <p:spPr>
              <a:xfrm>
                <a:off x="7672132" y="3303745"/>
                <a:ext cx="2361063" cy="369332"/>
              </a:xfrm>
              <a:prstGeom prst="rect">
                <a:avLst/>
              </a:prstGeom>
              <a:noFill/>
            </p:spPr>
            <p:txBody>
              <a:bodyPr wrap="square" rtlCol="0">
                <a:spAutoFit/>
              </a:bodyPr>
              <a:lstStyle/>
              <a:p>
                <a:r>
                  <a:rPr lang="en-US" dirty="0"/>
                  <a:t>Coscine Python SDK</a:t>
                </a:r>
              </a:p>
            </p:txBody>
          </p:sp>
        </p:grpSp>
      </p:grpSp>
      <p:grpSp>
        <p:nvGrpSpPr>
          <p:cNvPr id="43" name="Group 42">
            <a:extLst>
              <a:ext uri="{FF2B5EF4-FFF2-40B4-BE49-F238E27FC236}">
                <a16:creationId xmlns:a16="http://schemas.microsoft.com/office/drawing/2014/main" id="{87146C0F-D737-4EBB-6A40-A06EB149C91F}"/>
              </a:ext>
            </a:extLst>
          </p:cNvPr>
          <p:cNvGrpSpPr/>
          <p:nvPr/>
        </p:nvGrpSpPr>
        <p:grpSpPr>
          <a:xfrm>
            <a:off x="384000" y="2210940"/>
            <a:ext cx="5205219" cy="3303493"/>
            <a:chOff x="384000" y="2210940"/>
            <a:chExt cx="5205219" cy="3303493"/>
          </a:xfrm>
        </p:grpSpPr>
        <p:cxnSp>
          <p:nvCxnSpPr>
            <p:cNvPr id="14" name="Curved Connector 13">
              <a:extLst>
                <a:ext uri="{FF2B5EF4-FFF2-40B4-BE49-F238E27FC236}">
                  <a16:creationId xmlns:a16="http://schemas.microsoft.com/office/drawing/2014/main" id="{4F63688D-FF4A-128E-F15A-70B79D9268DE}"/>
                </a:ext>
              </a:extLst>
            </p:cNvPr>
            <p:cNvCxnSpPr>
              <a:cxnSpLocks/>
              <a:stCxn id="8" idx="0"/>
              <a:endCxn id="5" idx="3"/>
            </p:cNvCxnSpPr>
            <p:nvPr/>
          </p:nvCxnSpPr>
          <p:spPr>
            <a:xfrm rot="5400000" flipH="1" flipV="1">
              <a:off x="3125524" y="1796800"/>
              <a:ext cx="2049556" cy="2877835"/>
            </a:xfrm>
            <a:prstGeom prst="curvedConnector3">
              <a:avLst/>
            </a:prstGeom>
            <a:ln w="76200">
              <a:solidFill>
                <a:schemeClr val="accent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CD855086-A403-114F-2820-CC7700331713}"/>
                </a:ext>
              </a:extLst>
            </p:cNvPr>
            <p:cNvGrpSpPr/>
            <p:nvPr/>
          </p:nvGrpSpPr>
          <p:grpSpPr>
            <a:xfrm>
              <a:off x="384000" y="3891162"/>
              <a:ext cx="4654770" cy="1623271"/>
              <a:chOff x="384000" y="3891162"/>
              <a:chExt cx="4654770" cy="1623271"/>
            </a:xfrm>
          </p:grpSpPr>
          <p:pic>
            <p:nvPicPr>
              <p:cNvPr id="8" name="Picture 7">
                <a:extLst>
                  <a:ext uri="{FF2B5EF4-FFF2-40B4-BE49-F238E27FC236}">
                    <a16:creationId xmlns:a16="http://schemas.microsoft.com/office/drawing/2014/main" id="{1ED55200-1B42-330D-E393-C59200F9D208}"/>
                  </a:ext>
                </a:extLst>
              </p:cNvPr>
              <p:cNvPicPr>
                <a:picLocks noChangeAspect="1"/>
              </p:cNvPicPr>
              <p:nvPr/>
            </p:nvPicPr>
            <p:blipFill>
              <a:blip r:embed="rId4"/>
              <a:stretch>
                <a:fillRect/>
              </a:stretch>
            </p:blipFill>
            <p:spPr>
              <a:xfrm>
                <a:off x="384000" y="4260495"/>
                <a:ext cx="4654770" cy="1253938"/>
              </a:xfrm>
              <a:prstGeom prst="rect">
                <a:avLst/>
              </a:prstGeom>
            </p:spPr>
          </p:pic>
          <p:sp>
            <p:nvSpPr>
              <p:cNvPr id="38" name="TextBox 37">
                <a:extLst>
                  <a:ext uri="{FF2B5EF4-FFF2-40B4-BE49-F238E27FC236}">
                    <a16:creationId xmlns:a16="http://schemas.microsoft.com/office/drawing/2014/main" id="{1B78F780-5407-B715-B287-31CD7E03D017}"/>
                  </a:ext>
                </a:extLst>
              </p:cNvPr>
              <p:cNvSpPr txBox="1"/>
              <p:nvPr/>
            </p:nvSpPr>
            <p:spPr>
              <a:xfrm>
                <a:off x="1674412" y="3891162"/>
                <a:ext cx="761747" cy="369332"/>
              </a:xfrm>
              <a:prstGeom prst="rect">
                <a:avLst/>
              </a:prstGeom>
              <a:noFill/>
            </p:spPr>
            <p:txBody>
              <a:bodyPr wrap="none" rtlCol="0">
                <a:spAutoFit/>
              </a:bodyPr>
              <a:lstStyle/>
              <a:p>
                <a:r>
                  <a:rPr lang="en-US" dirty="0" err="1"/>
                  <a:t>cURL</a:t>
                </a:r>
                <a:endParaRPr lang="en-US" dirty="0"/>
              </a:p>
            </p:txBody>
          </p:sp>
        </p:grpSp>
      </p:grpSp>
      <p:cxnSp>
        <p:nvCxnSpPr>
          <p:cNvPr id="39" name="Curved Connector 38">
            <a:extLst>
              <a:ext uri="{FF2B5EF4-FFF2-40B4-BE49-F238E27FC236}">
                <a16:creationId xmlns:a16="http://schemas.microsoft.com/office/drawing/2014/main" id="{D0EA94F1-920C-4A96-B7DF-B68239F0F712}"/>
              </a:ext>
            </a:extLst>
          </p:cNvPr>
          <p:cNvCxnSpPr>
            <a:cxnSpLocks/>
            <a:stCxn id="11" idx="0"/>
            <a:endCxn id="5" idx="3"/>
          </p:cNvCxnSpPr>
          <p:nvPr/>
        </p:nvCxnSpPr>
        <p:spPr>
          <a:xfrm rot="5400000" flipH="1" flipV="1">
            <a:off x="5284469" y="2515689"/>
            <a:ext cx="609500" cy="1"/>
          </a:xfrm>
          <a:prstGeom prst="curvedConnector3">
            <a:avLst>
              <a:gd name="adj1" fmla="val 50000"/>
            </a:avLst>
          </a:prstGeom>
          <a:ln w="76200">
            <a:solidFill>
              <a:schemeClr val="accent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695FDA8-019D-B245-EE35-6AE968701C8D}"/>
              </a:ext>
            </a:extLst>
          </p:cNvPr>
          <p:cNvSpPr/>
          <p:nvPr/>
        </p:nvSpPr>
        <p:spPr>
          <a:xfrm>
            <a:off x="4801291" y="2820439"/>
            <a:ext cx="1575855" cy="8768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REST API</a:t>
            </a:r>
          </a:p>
        </p:txBody>
      </p:sp>
    </p:spTree>
    <p:extLst>
      <p:ext uri="{BB962C8B-B14F-4D97-AF65-F5344CB8AC3E}">
        <p14:creationId xmlns:p14="http://schemas.microsoft.com/office/powerpoint/2010/main" val="954097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39"/>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5"/>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3"/>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40EA4-8CB8-F973-B6DD-834667353D34}"/>
              </a:ext>
            </a:extLst>
          </p:cNvPr>
          <p:cNvSpPr>
            <a:spLocks noGrp="1"/>
          </p:cNvSpPr>
          <p:nvPr>
            <p:ph type="title"/>
          </p:nvPr>
        </p:nvSpPr>
        <p:spPr/>
        <p:txBody>
          <a:bodyPr>
            <a:noAutofit/>
          </a:bodyPr>
          <a:lstStyle/>
          <a:p>
            <a:r>
              <a:rPr lang="de-DE" sz="4000" dirty="0" err="1"/>
              <a:t>Metadata</a:t>
            </a:r>
            <a:r>
              <a:rPr lang="de-DE" sz="4000" dirty="0"/>
              <a:t> </a:t>
            </a:r>
            <a:r>
              <a:rPr lang="de-DE" sz="4000" dirty="0" err="1"/>
              <a:t>Profiles</a:t>
            </a:r>
            <a:endParaRPr lang="en-US" sz="4000" dirty="0"/>
          </a:p>
        </p:txBody>
      </p:sp>
      <p:sp>
        <p:nvSpPr>
          <p:cNvPr id="4" name="Text Placeholder 3">
            <a:extLst>
              <a:ext uri="{FF2B5EF4-FFF2-40B4-BE49-F238E27FC236}">
                <a16:creationId xmlns:a16="http://schemas.microsoft.com/office/drawing/2014/main" id="{6B120F75-1FB4-6DB9-6F7A-ADAF2FD1D7F8}"/>
              </a:ext>
            </a:extLst>
          </p:cNvPr>
          <p:cNvSpPr>
            <a:spLocks noGrp="1"/>
          </p:cNvSpPr>
          <p:nvPr>
            <p:ph type="body" sz="quarter" idx="13"/>
          </p:nvPr>
        </p:nvSpPr>
        <p:spPr/>
        <p:txBody>
          <a:bodyPr>
            <a:normAutofit/>
          </a:bodyPr>
          <a:lstStyle/>
          <a:p>
            <a:pPr marL="342900" indent="-342900" defTabSz="882213">
              <a:spcAft>
                <a:spcPts val="1200"/>
              </a:spcAft>
              <a:buFont typeface="Arial" panose="020B0604020202020204" pitchFamily="34" charset="0"/>
              <a:buChar char="•"/>
            </a:pPr>
            <a:r>
              <a:rPr lang="en-US" sz="2400" dirty="0"/>
              <a:t>Can be extensive</a:t>
            </a:r>
          </a:p>
          <a:p>
            <a:pPr marL="342900" indent="-342900" defTabSz="882213">
              <a:spcAft>
                <a:spcPts val="1200"/>
              </a:spcAft>
              <a:buFont typeface="Arial" panose="020B0604020202020204" pitchFamily="34" charset="0"/>
              <a:buChar char="•"/>
            </a:pPr>
            <a:r>
              <a:rPr lang="en-US" sz="2400" dirty="0"/>
              <a:t>Time consuming</a:t>
            </a:r>
            <a:endParaRPr lang="en-US" sz="2400" dirty="0">
              <a:sym typeface="Wingdings" panose="05000000000000000000" pitchFamily="2" charset="2"/>
            </a:endParaRPr>
          </a:p>
          <a:p>
            <a:pPr marL="342900" indent="-342900" defTabSz="882213">
              <a:spcAft>
                <a:spcPts val="1200"/>
              </a:spcAft>
              <a:buFont typeface="Arial" panose="020B0604020202020204" pitchFamily="34" charset="0"/>
              <a:buChar char="•"/>
            </a:pPr>
            <a:r>
              <a:rPr lang="en-US" sz="2400" dirty="0">
                <a:sym typeface="Wingdings" panose="05000000000000000000" pitchFamily="2" charset="2"/>
              </a:rPr>
              <a:t>Let’s look at the resource in Coscine:</a:t>
            </a:r>
            <a:endParaRPr lang="en-US" sz="2400" dirty="0">
              <a:solidFill>
                <a:schemeClr val="bg2">
                  <a:lumMod val="25000"/>
                </a:schemeClr>
              </a:solidFill>
              <a:sym typeface="Wingdings" panose="05000000000000000000" pitchFamily="2" charset="2"/>
            </a:endParaRPr>
          </a:p>
          <a:p>
            <a:pPr marL="558800" lvl="1" indent="-342900" defTabSz="882213">
              <a:spcAft>
                <a:spcPts val="1200"/>
              </a:spcAft>
              <a:buFont typeface="Arial" panose="020B0604020202020204" pitchFamily="34" charset="0"/>
              <a:buChar char="•"/>
            </a:pPr>
            <a:r>
              <a:rPr lang="en-US" sz="2200" dirty="0">
                <a:solidFill>
                  <a:schemeClr val="bg2">
                    <a:lumMod val="25000"/>
                  </a:schemeClr>
                </a:solidFill>
                <a:hlinkClick r:id="rId3"/>
              </a:rPr>
              <a:t>https://coscine.rwth-aachen.de/</a:t>
            </a:r>
            <a:endParaRPr lang="en-US" sz="2200" dirty="0">
              <a:solidFill>
                <a:schemeClr val="bg2">
                  <a:lumMod val="25000"/>
                </a:schemeClr>
              </a:solidFill>
            </a:endParaRPr>
          </a:p>
        </p:txBody>
      </p:sp>
      <p:pic>
        <p:nvPicPr>
          <p:cNvPr id="6" name="Picture 5">
            <a:extLst>
              <a:ext uri="{FF2B5EF4-FFF2-40B4-BE49-F238E27FC236}">
                <a16:creationId xmlns:a16="http://schemas.microsoft.com/office/drawing/2014/main" id="{EA35392F-B72B-38E0-DF76-7A1FBE0CAF00}"/>
              </a:ext>
            </a:extLst>
          </p:cNvPr>
          <p:cNvPicPr>
            <a:picLocks noChangeAspect="1"/>
          </p:cNvPicPr>
          <p:nvPr/>
        </p:nvPicPr>
        <p:blipFill>
          <a:blip r:embed="rId4"/>
          <a:stretch>
            <a:fillRect/>
          </a:stretch>
        </p:blipFill>
        <p:spPr>
          <a:xfrm>
            <a:off x="7403027" y="119365"/>
            <a:ext cx="4453430" cy="602560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120913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6532DD5-131C-44DC-62AA-94C38823D979}"/>
              </a:ext>
            </a:extLst>
          </p:cNvPr>
          <p:cNvSpPr>
            <a:spLocks noGrp="1"/>
          </p:cNvSpPr>
          <p:nvPr>
            <p:ph type="body" sz="quarter" idx="11"/>
          </p:nvPr>
        </p:nvSpPr>
        <p:spPr/>
        <p:txBody>
          <a:bodyPr/>
          <a:lstStyle/>
          <a:p>
            <a:endParaRPr lang="en-US"/>
          </a:p>
        </p:txBody>
      </p:sp>
      <p:sp>
        <p:nvSpPr>
          <p:cNvPr id="9" name="Chart Placeholder 8">
            <a:extLst>
              <a:ext uri="{FF2B5EF4-FFF2-40B4-BE49-F238E27FC236}">
                <a16:creationId xmlns:a16="http://schemas.microsoft.com/office/drawing/2014/main" id="{833942E9-5425-F032-A9C5-FCE788D6211E}"/>
              </a:ext>
            </a:extLst>
          </p:cNvPr>
          <p:cNvSpPr>
            <a:spLocks noGrp="1"/>
          </p:cNvSpPr>
          <p:nvPr>
            <p:ph type="chart" sz="quarter" idx="13"/>
          </p:nvPr>
        </p:nvSpPr>
        <p:spPr/>
        <p:txBody>
          <a:bodyPr/>
          <a:lstStyle/>
          <a:p>
            <a:endParaRPr lang="en-US"/>
          </a:p>
        </p:txBody>
      </p:sp>
      <p:sp>
        <p:nvSpPr>
          <p:cNvPr id="21508" name="Titel 6"/>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de-DE" altLang="de-DE" sz="4000" dirty="0" err="1">
                <a:solidFill>
                  <a:srgbClr val="00549F"/>
                </a:solidFill>
                <a:ea typeface="ＭＳ Ｐゴシック" panose="020B0600070205080204" pitchFamily="34" charset="-128"/>
              </a:rPr>
              <a:t>Automating</a:t>
            </a:r>
            <a:r>
              <a:rPr lang="de-DE" altLang="de-DE" sz="4000" dirty="0">
                <a:solidFill>
                  <a:srgbClr val="00549F"/>
                </a:solidFill>
                <a:ea typeface="ＭＳ Ｐゴシック" panose="020B0600070205080204" pitchFamily="34" charset="-128"/>
              </a:rPr>
              <a:t> Workflows</a:t>
            </a:r>
          </a:p>
        </p:txBody>
      </p:sp>
      <p:pic>
        <p:nvPicPr>
          <p:cNvPr id="3" name="Picture 2">
            <a:extLst>
              <a:ext uri="{FF2B5EF4-FFF2-40B4-BE49-F238E27FC236}">
                <a16:creationId xmlns:a16="http://schemas.microsoft.com/office/drawing/2014/main" id="{3FD04EAC-E8C5-C3CF-6DB7-62004CFD196C}"/>
              </a:ext>
            </a:extLst>
          </p:cNvPr>
          <p:cNvPicPr>
            <a:picLocks noChangeAspect="1"/>
          </p:cNvPicPr>
          <p:nvPr/>
        </p:nvPicPr>
        <p:blipFill>
          <a:blip r:embed="rId3"/>
          <a:stretch>
            <a:fillRect/>
          </a:stretch>
        </p:blipFill>
        <p:spPr>
          <a:xfrm>
            <a:off x="384175" y="928537"/>
            <a:ext cx="9080705" cy="5216434"/>
          </a:xfrm>
          <a:prstGeom prst="rect">
            <a:avLst/>
          </a:prstGeom>
        </p:spPr>
      </p:pic>
      <p:pic>
        <p:nvPicPr>
          <p:cNvPr id="6" name="Picture 5">
            <a:extLst>
              <a:ext uri="{FF2B5EF4-FFF2-40B4-BE49-F238E27FC236}">
                <a16:creationId xmlns:a16="http://schemas.microsoft.com/office/drawing/2014/main" id="{70F6866E-E97A-6C7C-0A56-53725C171191}"/>
              </a:ext>
            </a:extLst>
          </p:cNvPr>
          <p:cNvPicPr>
            <a:picLocks noChangeAspect="1"/>
          </p:cNvPicPr>
          <p:nvPr/>
        </p:nvPicPr>
        <p:blipFill>
          <a:blip r:embed="rId4"/>
          <a:stretch>
            <a:fillRect/>
          </a:stretch>
        </p:blipFill>
        <p:spPr>
          <a:xfrm>
            <a:off x="5817923" y="2397068"/>
            <a:ext cx="6374077" cy="3486675"/>
          </a:xfrm>
          <a:prstGeom prst="rect">
            <a:avLst/>
          </a:prstGeom>
        </p:spPr>
      </p:pic>
    </p:spTree>
    <p:extLst>
      <p:ext uri="{BB962C8B-B14F-4D97-AF65-F5344CB8AC3E}">
        <p14:creationId xmlns:p14="http://schemas.microsoft.com/office/powerpoint/2010/main" val="387415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1F057-963C-8A4C-5B96-B907A2D679A0}"/>
              </a:ext>
            </a:extLst>
          </p:cNvPr>
          <p:cNvSpPr>
            <a:spLocks noGrp="1"/>
          </p:cNvSpPr>
          <p:nvPr>
            <p:ph type="title"/>
          </p:nvPr>
        </p:nvSpPr>
        <p:spPr/>
        <p:txBody>
          <a:bodyPr/>
          <a:lstStyle/>
          <a:p>
            <a:r>
              <a:rPr lang="en-US" sz="4000" dirty="0"/>
              <a:t>Today’s recap</a:t>
            </a:r>
          </a:p>
        </p:txBody>
      </p:sp>
      <p:sp>
        <p:nvSpPr>
          <p:cNvPr id="3" name="Subtitle 2">
            <a:extLst>
              <a:ext uri="{FF2B5EF4-FFF2-40B4-BE49-F238E27FC236}">
                <a16:creationId xmlns:a16="http://schemas.microsoft.com/office/drawing/2014/main" id="{3C9BE9C1-9437-D880-D716-8FE571267C50}"/>
              </a:ext>
            </a:extLst>
          </p:cNvPr>
          <p:cNvSpPr>
            <a:spLocks noGrp="1"/>
          </p:cNvSpPr>
          <p:nvPr>
            <p:ph type="body" sz="quarter" idx="13"/>
          </p:nvPr>
        </p:nvSpPr>
        <p:spPr/>
        <p:txBody>
          <a:bodyPr/>
          <a:lstStyle/>
          <a:p>
            <a:pPr marL="342900" indent="-342900" algn="l">
              <a:lnSpc>
                <a:spcPct val="150000"/>
              </a:lnSpc>
              <a:buClr>
                <a:srgbClr val="00B050"/>
              </a:buClr>
              <a:buFont typeface="Wingdings" panose="05000000000000000000" pitchFamily="2" charset="2"/>
              <a:buChar char="ü"/>
            </a:pPr>
            <a:r>
              <a:rPr lang="en-US" sz="2400" b="0" i="0" dirty="0">
                <a:solidFill>
                  <a:srgbClr val="333333"/>
                </a:solidFill>
                <a:effectLst/>
                <a:latin typeface="arial" panose="020B0604020202020204" pitchFamily="34" charset="0"/>
              </a:rPr>
              <a:t>Created and read a configuration file</a:t>
            </a:r>
          </a:p>
          <a:p>
            <a:pPr marL="342900" indent="-342900" algn="l">
              <a:lnSpc>
                <a:spcPct val="150000"/>
              </a:lnSpc>
              <a:buClr>
                <a:srgbClr val="00B050"/>
              </a:buClr>
              <a:buFont typeface="Wingdings" panose="05000000000000000000" pitchFamily="2" charset="2"/>
              <a:buChar char="ü"/>
            </a:pPr>
            <a:r>
              <a:rPr lang="en-US" sz="2400" b="0" i="0" dirty="0">
                <a:solidFill>
                  <a:srgbClr val="333333"/>
                </a:solidFill>
                <a:effectLst/>
                <a:latin typeface="arial" panose="020B0604020202020204" pitchFamily="34" charset="0"/>
              </a:rPr>
              <a:t>Used the </a:t>
            </a:r>
            <a:r>
              <a:rPr lang="en-US" sz="2400" b="0" i="0" dirty="0" err="1">
                <a:solidFill>
                  <a:srgbClr val="333333"/>
                </a:solidFill>
                <a:effectLst/>
                <a:latin typeface="arial" panose="020B0604020202020204" pitchFamily="34" charset="0"/>
              </a:rPr>
              <a:t>Coscine</a:t>
            </a:r>
            <a:r>
              <a:rPr lang="en-US" sz="2400" b="0" i="0" dirty="0">
                <a:solidFill>
                  <a:srgbClr val="333333"/>
                </a:solidFill>
                <a:effectLst/>
                <a:latin typeface="arial" panose="020B0604020202020204" pitchFamily="34" charset="0"/>
              </a:rPr>
              <a:t> Python SDK to connect the </a:t>
            </a:r>
            <a:r>
              <a:rPr lang="en-US" sz="2400" b="0" i="0" dirty="0" err="1">
                <a:solidFill>
                  <a:srgbClr val="333333"/>
                </a:solidFill>
                <a:effectLst/>
                <a:latin typeface="arial" panose="020B0604020202020204" pitchFamily="34" charset="0"/>
              </a:rPr>
              <a:t>Coscine</a:t>
            </a:r>
            <a:r>
              <a:rPr lang="en-US" sz="2400" b="0" i="0" dirty="0">
                <a:solidFill>
                  <a:srgbClr val="333333"/>
                </a:solidFill>
                <a:effectLst/>
                <a:latin typeface="arial" panose="020B0604020202020204" pitchFamily="34" charset="0"/>
              </a:rPr>
              <a:t> REST API</a:t>
            </a:r>
          </a:p>
          <a:p>
            <a:pPr marL="342900" indent="-342900" algn="l">
              <a:lnSpc>
                <a:spcPct val="150000"/>
              </a:lnSpc>
              <a:buClr>
                <a:srgbClr val="00B050"/>
              </a:buClr>
              <a:buFont typeface="Wingdings" panose="05000000000000000000" pitchFamily="2" charset="2"/>
              <a:buChar char="ü"/>
            </a:pPr>
            <a:r>
              <a:rPr lang="en-US" sz="2400" b="0" i="0" dirty="0">
                <a:solidFill>
                  <a:srgbClr val="333333"/>
                </a:solidFill>
                <a:effectLst/>
                <a:latin typeface="arial" panose="020B0604020202020204" pitchFamily="34" charset="0"/>
              </a:rPr>
              <a:t>Filled in the metadata form for a file in </a:t>
            </a:r>
            <a:r>
              <a:rPr lang="en-US" sz="2400" b="0" i="0" dirty="0" err="1">
                <a:solidFill>
                  <a:srgbClr val="333333"/>
                </a:solidFill>
                <a:effectLst/>
                <a:latin typeface="arial" panose="020B0604020202020204" pitchFamily="34" charset="0"/>
              </a:rPr>
              <a:t>Coscine</a:t>
            </a:r>
            <a:endParaRPr lang="en-US" sz="2400" dirty="0">
              <a:solidFill>
                <a:srgbClr val="333333"/>
              </a:solidFill>
              <a:latin typeface="arial" panose="020B0604020202020204" pitchFamily="34" charset="0"/>
            </a:endParaRPr>
          </a:p>
          <a:p>
            <a:pPr marL="342900" indent="-342900" algn="l">
              <a:lnSpc>
                <a:spcPct val="150000"/>
              </a:lnSpc>
              <a:buClr>
                <a:srgbClr val="00B050"/>
              </a:buClr>
              <a:buFont typeface="Wingdings" panose="05000000000000000000" pitchFamily="2" charset="2"/>
              <a:buChar char="ü"/>
            </a:pPr>
            <a:r>
              <a:rPr lang="en-US" sz="2400" b="0" i="0" dirty="0">
                <a:solidFill>
                  <a:srgbClr val="333333"/>
                </a:solidFill>
                <a:effectLst/>
                <a:latin typeface="arial" panose="020B0604020202020204" pitchFamily="34" charset="0"/>
              </a:rPr>
              <a:t>Uploaded a file and the metadata via the REST API</a:t>
            </a:r>
          </a:p>
          <a:p>
            <a:pPr marL="342900" indent="-342900" algn="l">
              <a:lnSpc>
                <a:spcPct val="150000"/>
              </a:lnSpc>
              <a:buClr>
                <a:srgbClr val="00B050"/>
              </a:buClr>
              <a:buFont typeface="Wingdings" panose="05000000000000000000" pitchFamily="2" charset="2"/>
              <a:buChar char="ü"/>
            </a:pPr>
            <a:r>
              <a:rPr lang="en-US" sz="2400" b="0" i="0" dirty="0">
                <a:solidFill>
                  <a:srgbClr val="333333"/>
                </a:solidFill>
                <a:effectLst/>
                <a:latin typeface="arial" panose="020B0604020202020204" pitchFamily="34" charset="0"/>
              </a:rPr>
              <a:t>Created a directory structure </a:t>
            </a:r>
            <a:r>
              <a:rPr lang="en-US" sz="2400" dirty="0">
                <a:solidFill>
                  <a:srgbClr val="333333"/>
                </a:solidFill>
                <a:latin typeface="arial" panose="020B0604020202020204" pitchFamily="34" charset="0"/>
              </a:rPr>
              <a:t>in Coscine</a:t>
            </a:r>
          </a:p>
          <a:p>
            <a:pPr marL="342900" indent="-342900" algn="l">
              <a:lnSpc>
                <a:spcPct val="150000"/>
              </a:lnSpc>
              <a:buClr>
                <a:srgbClr val="00B050"/>
              </a:buClr>
              <a:buFont typeface="Wingdings" panose="05000000000000000000" pitchFamily="2" charset="2"/>
              <a:buChar char="ü"/>
            </a:pPr>
            <a:r>
              <a:rPr lang="en-US" sz="2400" b="0" i="0" dirty="0">
                <a:solidFill>
                  <a:srgbClr val="333333"/>
                </a:solidFill>
                <a:effectLst/>
                <a:latin typeface="arial" panose="020B0604020202020204" pitchFamily="34" charset="0"/>
              </a:rPr>
              <a:t>Extracted metadata from a file and transferred the metadata + file to Coscine</a:t>
            </a:r>
          </a:p>
        </p:txBody>
      </p:sp>
    </p:spTree>
    <p:extLst>
      <p:ext uri="{BB962C8B-B14F-4D97-AF65-F5344CB8AC3E}">
        <p14:creationId xmlns:p14="http://schemas.microsoft.com/office/powerpoint/2010/main" val="4222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877C-39C3-0ED1-F928-C92F9188849E}"/>
              </a:ext>
            </a:extLst>
          </p:cNvPr>
          <p:cNvSpPr>
            <a:spLocks noGrp="1"/>
          </p:cNvSpPr>
          <p:nvPr>
            <p:ph type="title"/>
          </p:nvPr>
        </p:nvSpPr>
        <p:spPr/>
        <p:txBody>
          <a:bodyPr/>
          <a:lstStyle/>
          <a:p>
            <a:r>
              <a:rPr lang="de-DE" sz="4000" dirty="0"/>
              <a:t>Resources</a:t>
            </a:r>
            <a:endParaRPr lang="en-US" sz="4000" dirty="0"/>
          </a:p>
        </p:txBody>
      </p:sp>
      <p:sp>
        <p:nvSpPr>
          <p:cNvPr id="3" name="Subtitle 2">
            <a:extLst>
              <a:ext uri="{FF2B5EF4-FFF2-40B4-BE49-F238E27FC236}">
                <a16:creationId xmlns:a16="http://schemas.microsoft.com/office/drawing/2014/main" id="{6D76EC6F-A034-81F8-17C0-46266AF7399E}"/>
              </a:ext>
            </a:extLst>
          </p:cNvPr>
          <p:cNvSpPr>
            <a:spLocks noGrp="1"/>
          </p:cNvSpPr>
          <p:nvPr>
            <p:ph type="body" sz="quarter" idx="13"/>
          </p:nvPr>
        </p:nvSpPr>
        <p:spPr/>
        <p:txBody>
          <a:bodyPr/>
          <a:lstStyle/>
          <a:p>
            <a:pPr marL="342900" indent="-342900" algn="l">
              <a:spcBef>
                <a:spcPts val="600"/>
              </a:spcBef>
              <a:buFont typeface="Arial" panose="020B0604020202020204" pitchFamily="34" charset="0"/>
              <a:buChar char="•"/>
            </a:pPr>
            <a:r>
              <a:rPr lang="en-US" sz="2400" b="0" i="0" dirty="0" err="1">
                <a:effectLst/>
                <a:latin typeface="+mn-lt"/>
              </a:rPr>
              <a:t>Coscine</a:t>
            </a:r>
            <a:r>
              <a:rPr lang="en-US" sz="2400" b="0" i="0" dirty="0">
                <a:effectLst/>
                <a:latin typeface="+mn-lt"/>
              </a:rPr>
              <a:t>/Python Script Examples: </a:t>
            </a:r>
            <a:endParaRPr lang="en-US" sz="2400" b="0" i="0" dirty="0">
              <a:effectLst/>
              <a:latin typeface="+mn-lt"/>
              <a:hlinkClick r:id="rId3">
                <a:extLst>
                  <a:ext uri="{A12FA001-AC4F-418D-AE19-62706E023703}">
                    <ahyp:hlinkClr xmlns:ahyp="http://schemas.microsoft.com/office/drawing/2018/hyperlinkcolor" val="tx"/>
                  </a:ext>
                </a:extLst>
              </a:hlinkClick>
            </a:endParaRPr>
          </a:p>
          <a:p>
            <a:pPr marL="800100" lvl="1" indent="-342900" algn="l">
              <a:spcBef>
                <a:spcPts val="600"/>
              </a:spcBef>
              <a:buFont typeface="Arial" panose="020B0604020202020204" pitchFamily="34" charset="0"/>
              <a:buChar char="•"/>
            </a:pPr>
            <a:r>
              <a:rPr lang="en-US" sz="2000" b="0" i="0" u="sng" dirty="0">
                <a:solidFill>
                  <a:srgbClr val="612158"/>
                </a:solidFill>
                <a:effectLst/>
                <a:latin typeface="Segoe UI" panose="020B0502040204020203" pitchFamily="34" charset="0"/>
                <a:hlinkClick r:id="rId3">
                  <a:extLst>
                    <a:ext uri="{A12FA001-AC4F-418D-AE19-62706E023703}">
                      <ahyp:hlinkClr xmlns:ahyp="http://schemas.microsoft.com/office/drawing/2018/hyperlinkcolor" val="tx"/>
                    </a:ext>
                  </a:extLst>
                </a:hlinkClick>
              </a:rPr>
              <a:t>https://coscine.pages.rwth-aachen.de/community-features/coscine-technical-adaption/</a:t>
            </a:r>
            <a:endParaRPr lang="en-US" sz="2000" b="0" i="0" dirty="0">
              <a:effectLst/>
              <a:latin typeface="Segoe UI" panose="020B0502040204020203" pitchFamily="34" charset="0"/>
            </a:endParaRPr>
          </a:p>
          <a:p>
            <a:pPr marL="342900" indent="-342900" algn="l">
              <a:spcBef>
                <a:spcPts val="600"/>
              </a:spcBef>
              <a:buFont typeface="Arial" panose="020B0604020202020204" pitchFamily="34" charset="0"/>
              <a:buChar char="•"/>
            </a:pPr>
            <a:r>
              <a:rPr lang="en-US" sz="2400" b="0" i="0" dirty="0" err="1">
                <a:effectLst/>
                <a:latin typeface="+mn-lt"/>
              </a:rPr>
              <a:t>Coscine</a:t>
            </a:r>
            <a:r>
              <a:rPr lang="en-US" sz="2400" b="0" i="0" dirty="0">
                <a:effectLst/>
                <a:latin typeface="+mn-lt"/>
              </a:rPr>
              <a:t> API Documentation: </a:t>
            </a:r>
            <a:endParaRPr lang="en-US" sz="2400" b="0" i="0" dirty="0">
              <a:effectLst/>
              <a:latin typeface="+mn-lt"/>
              <a:hlinkClick r:id="rId4">
                <a:extLst>
                  <a:ext uri="{A12FA001-AC4F-418D-AE19-62706E023703}">
                    <ahyp:hlinkClr xmlns:ahyp="http://schemas.microsoft.com/office/drawing/2018/hyperlinkcolor" val="tx"/>
                  </a:ext>
                </a:extLst>
              </a:hlinkClick>
            </a:endParaRPr>
          </a:p>
          <a:p>
            <a:pPr marL="800100" lvl="1" indent="-342900" algn="l">
              <a:spcBef>
                <a:spcPts val="600"/>
              </a:spcBef>
              <a:buFont typeface="Arial" panose="020B0604020202020204" pitchFamily="34" charset="0"/>
              <a:buChar char="•"/>
            </a:pPr>
            <a:r>
              <a:rPr lang="en-US" sz="2000" b="0" i="0" u="sng" dirty="0">
                <a:solidFill>
                  <a:srgbClr val="612158"/>
                </a:solidFill>
                <a:effectLst/>
                <a:latin typeface="Segoe UI" panose="020B0502040204020203" pitchFamily="34" charset="0"/>
                <a:hlinkClick r:id="rId4">
                  <a:extLst>
                    <a:ext uri="{A12FA001-AC4F-418D-AE19-62706E023703}">
                      <ahyp:hlinkClr xmlns:ahyp="http://schemas.microsoft.com/office/drawing/2018/hyperlinkcolor" val="tx"/>
                    </a:ext>
                  </a:extLst>
                </a:hlinkClick>
              </a:rPr>
              <a:t>https://coscine.rwth-aachen.de/coscine/apps/apidocs/#tag/admin</a:t>
            </a:r>
            <a:endParaRPr lang="en-US" sz="2000" b="0" i="0" u="sng" dirty="0">
              <a:solidFill>
                <a:srgbClr val="0353A8"/>
              </a:solidFill>
              <a:effectLst/>
              <a:latin typeface="Segoe UI" panose="020B0502040204020203" pitchFamily="34" charset="0"/>
            </a:endParaRPr>
          </a:p>
          <a:p>
            <a:pPr marL="342900" indent="-342900" algn="l">
              <a:spcBef>
                <a:spcPts val="600"/>
              </a:spcBef>
              <a:buFont typeface="Arial" panose="020B0604020202020204" pitchFamily="34" charset="0"/>
              <a:buChar char="•"/>
            </a:pPr>
            <a:r>
              <a:rPr lang="en-US" sz="2400" dirty="0"/>
              <a:t>Python SDK Documentation:</a:t>
            </a:r>
            <a:endParaRPr lang="en-US" sz="2400" dirty="0">
              <a:hlinkClick r:id="rId5"/>
            </a:endParaRPr>
          </a:p>
          <a:p>
            <a:pPr marL="800100" lvl="1" indent="-342900" algn="l">
              <a:spcBef>
                <a:spcPts val="600"/>
              </a:spcBef>
              <a:buFont typeface="Arial" panose="020B0604020202020204" pitchFamily="34" charset="0"/>
              <a:buChar char="•"/>
            </a:pPr>
            <a:r>
              <a:rPr lang="en-US" sz="2000" dirty="0" err="1">
                <a:hlinkClick r:id="rId5"/>
              </a:rPr>
              <a:t>coscine</a:t>
            </a:r>
            <a:r>
              <a:rPr lang="en-US" sz="2000" dirty="0">
                <a:hlinkClick r:id="rId5"/>
              </a:rPr>
              <a:t> 0.11.12 documentation (rwth-aachen.de)</a:t>
            </a:r>
            <a:endParaRPr lang="en-US" sz="2000" b="0" i="0" dirty="0">
              <a:effectLst/>
              <a:latin typeface="Segoe UI" panose="020B0502040204020203" pitchFamily="34" charset="0"/>
            </a:endParaRPr>
          </a:p>
          <a:p>
            <a:pPr marL="342900" indent="-342900" algn="l">
              <a:buFont typeface="Arial" panose="020B0604020202020204" pitchFamily="34" charset="0"/>
              <a:buChar char="•"/>
            </a:pPr>
            <a:endParaRPr lang="en-US" sz="2400" dirty="0"/>
          </a:p>
        </p:txBody>
      </p:sp>
    </p:spTree>
    <p:extLst>
      <p:ext uri="{BB962C8B-B14F-4D97-AF65-F5344CB8AC3E}">
        <p14:creationId xmlns:p14="http://schemas.microsoft.com/office/powerpoint/2010/main" val="2939992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platzhalter 1"/>
          <p:cNvSpPr>
            <a:spLocks noGrp="1"/>
          </p:cNvSpPr>
          <p:nvPr>
            <p:ph type="body" sz="quarter" idx="11"/>
          </p:nvPr>
        </p:nvSpPr>
        <p:spPr bwMode="auto">
          <a:xfrm>
            <a:off x="384175" y="3989388"/>
            <a:ext cx="11483975" cy="16557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r>
              <a:rPr lang="en-US" sz="2000" dirty="0"/>
              <a:t>Catherine Gonzalez</a:t>
            </a:r>
          </a:p>
          <a:p>
            <a:r>
              <a:rPr lang="en-US" sz="2000" dirty="0"/>
              <a:t>CRC-1382 </a:t>
            </a:r>
          </a:p>
          <a:p>
            <a:r>
              <a:rPr lang="en-US" sz="2000" dirty="0"/>
              <a:t>Data Steward</a:t>
            </a:r>
          </a:p>
          <a:p>
            <a:r>
              <a:rPr lang="en-US" sz="2000" dirty="0">
                <a:hlinkClick r:id="rId3"/>
              </a:rPr>
              <a:t>c.gonzalez@itc.rwth-aachen.de</a:t>
            </a:r>
            <a:endParaRPr lang="en-US" sz="2000" dirty="0"/>
          </a:p>
          <a:p>
            <a:pPr eaLnBrk="1" hangingPunct="1">
              <a:spcBef>
                <a:spcPct val="0"/>
              </a:spcBef>
            </a:pPr>
            <a:endParaRPr lang="de-DE" altLang="de-DE" dirty="0">
              <a:ea typeface="ＭＳ Ｐゴシック" panose="020B0600070205080204" pitchFamily="34" charset="-128"/>
            </a:endParaRPr>
          </a:p>
        </p:txBody>
      </p:sp>
      <p:pic>
        <p:nvPicPr>
          <p:cNvPr id="1026" name="Picture 2">
            <a:extLst>
              <a:ext uri="{FF2B5EF4-FFF2-40B4-BE49-F238E27FC236}">
                <a16:creationId xmlns:a16="http://schemas.microsoft.com/office/drawing/2014/main" id="{C8F82AD7-1767-4422-56E1-CC03423AD8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9040" y="401320"/>
            <a:ext cx="5181600" cy="5181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Präsentation_Master_RWTH_Institute_16zu9">
  <a:themeElements>
    <a:clrScheme name="Benutzerdefiniert 2">
      <a:dk1>
        <a:sysClr val="windowText" lastClr="000000"/>
      </a:dk1>
      <a:lt1>
        <a:sysClr val="window" lastClr="FFFFFF"/>
      </a:lt1>
      <a:dk2>
        <a:srgbClr val="00549F"/>
      </a:dk2>
      <a:lt2>
        <a:srgbClr val="8EBAE5"/>
      </a:lt2>
      <a:accent1>
        <a:srgbClr val="006165"/>
      </a:accent1>
      <a:accent2>
        <a:srgbClr val="0098A1"/>
      </a:accent2>
      <a:accent3>
        <a:srgbClr val="57AB27"/>
      </a:accent3>
      <a:accent4>
        <a:srgbClr val="BDCD00"/>
      </a:accent4>
      <a:accent5>
        <a:srgbClr val="F6A800"/>
      </a:accent5>
      <a:accent6>
        <a:srgbClr val="CC071E"/>
      </a:accent6>
      <a:hlink>
        <a:srgbClr val="612158"/>
      </a:hlink>
      <a:folHlink>
        <a:srgbClr val="7A6FA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 Center Folientemplates 16-9.potx" id="{C132E914-FC72-411D-95CE-A7FD149A10B1}" vid="{29910B8C-94CD-457C-A863-3CB5199078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1698A96F5888D44EA04448728EF8F545" ma:contentTypeVersion="11" ma:contentTypeDescription="Ein neues Dokument erstellen." ma:contentTypeScope="" ma:versionID="37f4de3e479beb83eb38c711e25f9535">
  <xsd:schema xmlns:xsd="http://www.w3.org/2001/XMLSchema" xmlns:xs="http://www.w3.org/2001/XMLSchema" xmlns:p="http://schemas.microsoft.com/office/2006/metadata/properties" targetNamespace="http://schemas.microsoft.com/office/2006/metadata/properties" ma:root="true" ma:fieldsID="32b0bb0314d79344f471b86b22711c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Inhaltstyp"/>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F805C81-A8F1-4AB0-B7C2-2DB3B4987A35}">
  <ds:schemaRefs>
    <ds:schemaRef ds:uri="http://schemas.microsoft.com/office/2006/documentManagement/types"/>
    <ds:schemaRef ds:uri="http://schemas.openxmlformats.org/package/2006/metadata/core-properties"/>
    <ds:schemaRef ds:uri="http://schemas.microsoft.com/office/2006/metadata/properties"/>
    <ds:schemaRef ds:uri="http://purl.org/dc/dcmitype/"/>
    <ds:schemaRef ds:uri="http://purl.org/dc/elements/1.1/"/>
    <ds:schemaRef ds:uri="http://www.w3.org/XML/1998/namespace"/>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CD00C441-089C-466D-A92F-49506EECF6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015D93BC-44BC-4C4D-A690-433DD3233F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IT Center Folientemplates 16-9 (1)</Template>
  <TotalTime>0</TotalTime>
  <Words>921</Words>
  <Application>Microsoft Office PowerPoint</Application>
  <PresentationFormat>Widescreen</PresentationFormat>
  <Paragraphs>100</Paragraphs>
  <Slides>10</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ＭＳ Ｐゴシック</vt:lpstr>
      <vt:lpstr>Arial</vt:lpstr>
      <vt:lpstr>Arial</vt:lpstr>
      <vt:lpstr>Calibri</vt:lpstr>
      <vt:lpstr>Courier New</vt:lpstr>
      <vt:lpstr>Segoe UI</vt:lpstr>
      <vt:lpstr>Söhne</vt:lpstr>
      <vt:lpstr>Symbol</vt:lpstr>
      <vt:lpstr>ui-sans-serif</vt:lpstr>
      <vt:lpstr>Wingdings</vt:lpstr>
      <vt:lpstr>Präsentation_Master_RWTH_Institute_16zu9</vt:lpstr>
      <vt:lpstr>Automating (Meta)Data Transfer to Coscine</vt:lpstr>
      <vt:lpstr> Guidelines</vt:lpstr>
      <vt:lpstr>Course Objectives</vt:lpstr>
      <vt:lpstr>Expectations</vt:lpstr>
      <vt:lpstr>Interfacing with Coscine</vt:lpstr>
      <vt:lpstr>Metadata Profiles</vt:lpstr>
      <vt:lpstr>Automating Workflows</vt:lpstr>
      <vt:lpstr>Today’s recap</vt:lpstr>
      <vt:lpstr>Resources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CRC 1382 funding periods 1 &amp; 2</dc:title>
  <dc:creator>Gonzalez, Catherine</dc:creator>
  <cp:lastModifiedBy>Gonzalez, Catherine</cp:lastModifiedBy>
  <cp:revision>80</cp:revision>
  <cp:lastPrinted>2023-10-23T12:19:21Z</cp:lastPrinted>
  <dcterms:created xsi:type="dcterms:W3CDTF">2023-01-06T09:11:31Z</dcterms:created>
  <dcterms:modified xsi:type="dcterms:W3CDTF">2026-06-09T04:55:03Z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0x0101001698A96F5888D44EA04448728EF8F545</vt:lpwstr>
  </property>
</Properties>
</file>